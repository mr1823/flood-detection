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1"/>
  </p:notesMasterIdLst>
  <p:sldIdLst>
    <p:sldId id="257" r:id="rId2"/>
    <p:sldId id="259" r:id="rId3"/>
    <p:sldId id="260" r:id="rId4"/>
    <p:sldId id="262" r:id="rId5"/>
    <p:sldId id="263" r:id="rId6"/>
    <p:sldId id="264" r:id="rId7"/>
    <p:sldId id="272" r:id="rId36"/>
    <p:sldId id="274" r:id="rId38"/>
    <p:sldId id="266" r:id="rId8"/>
    <p:sldId id="273" r:id="rId37"/>
    <p:sldId id="269" r:id="rId9"/>
    <p:sldId id="271" r:id="rId10"/>
  </p:sldIdLst>
  <p:sldSz cx="9144000" cy="5143500" type="screen16x9"/>
  <p:notesSz cx="6858000" cy="9144000"/>
  <p:embeddedFontLst>
    <p:embeddedFont>
      <p:font typeface="Roboto Condensed Light" charset="0"/>
      <p:regular r:id="rId12"/>
      <p:bold r:id="rId13"/>
      <p:italic r:id="rId14"/>
      <p:boldItalic r:id="rId15"/>
    </p:embeddedFont>
    <p:embeddedFont>
      <p:font typeface="Montserrat" charset="0"/>
      <p:regular r:id="rId16"/>
      <p:bold r:id="rId17"/>
      <p:italic r:id="rId18"/>
      <p:boldItalic r:id="rId19"/>
    </p:embeddedFont>
    <p:embeddedFont>
      <p:font typeface="Roboto Condensed" charset="0"/>
      <p:regular r:id="rId20"/>
      <p:bold r:id="rId21"/>
      <p:italic r:id="rId22"/>
      <p:boldItalic r:id="rId23"/>
    </p:embeddedFont>
    <p:embeddedFont>
      <p:font typeface="Verdana" pitchFamily="34" charset="0"/>
      <p:regular r:id="rId24"/>
      <p:bold r:id="rId25"/>
      <p:italic r:id="rId26"/>
      <p:boldItalic r:id="rId27"/>
    </p:embeddedFont>
    <p:embeddedFont>
      <p:font typeface="Arvo"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25D08E4-4CB9-4A25-91DF-C19B82DA8EF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1" d="100"/>
          <a:sy n="91" d="100"/>
        </p:scale>
        <p:origin x="-786"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notesMaster" Target="notesMasters/notesMaster1.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font" Target="fonts/font9.fntdata"/><Relationship Id="rId21" Type="http://schemas.openxmlformats.org/officeDocument/2006/relationships/font" Target="fonts/font10.fntdata"/><Relationship Id="rId22" Type="http://schemas.openxmlformats.org/officeDocument/2006/relationships/font" Target="fonts/font11.fntdata"/><Relationship Id="rId23" Type="http://schemas.openxmlformats.org/officeDocument/2006/relationships/font" Target="fonts/font12.fntdata"/><Relationship Id="rId24" Type="http://schemas.openxmlformats.org/officeDocument/2006/relationships/font" Target="fonts/font13.fntdata"/><Relationship Id="rId25" Type="http://schemas.openxmlformats.org/officeDocument/2006/relationships/font" Target="fonts/font14.fntdata"/><Relationship Id="rId26" Type="http://schemas.openxmlformats.org/officeDocument/2006/relationships/font" Target="fonts/font15.fntdata"/><Relationship Id="rId27" Type="http://schemas.openxmlformats.org/officeDocument/2006/relationships/font" Target="fonts/font16.fntdata"/><Relationship Id="rId28" Type="http://schemas.openxmlformats.org/officeDocument/2006/relationships/font" Target="fonts/font17.fntdata"/><Relationship Id="rId29" Type="http://schemas.openxmlformats.org/officeDocument/2006/relationships/font" Target="fonts/font18.fntdata"/><Relationship Id="rId30" Type="http://schemas.openxmlformats.org/officeDocument/2006/relationships/font" Target="fonts/font19.fntdata"/><Relationship Id="rId31" Type="http://schemas.openxmlformats.org/officeDocument/2006/relationships/font" Target="fonts/font20.fntdata"/><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7.xml"/><Relationship Id="rId37" Type="http://schemas.openxmlformats.org/officeDocument/2006/relationships/slide" Target="slides/slide10.xml"/><Relationship Id="rId3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674"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75"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327230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04859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59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17"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18"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27"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28"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32"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33"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45"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46"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55"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56"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048672" name="Google Shape;1444;g657edcabb3_95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73" name="Google Shape;1445;g657edcabb3_95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48579"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7" name="Google Shape;11;p2"/>
          <p:cNvGrpSpPr/>
          <p:nvPr/>
        </p:nvGrpSpPr>
        <p:grpSpPr>
          <a:xfrm>
            <a:off x="0" y="-7088"/>
            <a:ext cx="8661398" cy="5150588"/>
            <a:chOff x="0" y="-7088"/>
            <a:chExt cx="8661398" cy="5150588"/>
          </a:xfrm>
        </p:grpSpPr>
        <p:sp>
          <p:nvSpPr>
            <p:cNvPr id="1048580"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1"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8" name="Google Shape;14;p2"/>
          <p:cNvGrpSpPr/>
          <p:nvPr/>
        </p:nvGrpSpPr>
        <p:grpSpPr>
          <a:xfrm rot="10800000" flipH="1">
            <a:off x="1" y="1090763"/>
            <a:ext cx="8847502" cy="2961975"/>
            <a:chOff x="-8178042" y="-4493254"/>
            <a:chExt cx="19483598" cy="6522736"/>
          </a:xfrm>
        </p:grpSpPr>
        <p:sp>
          <p:nvSpPr>
            <p:cNvPr id="1048582"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48583"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9" name="Google Shape;17;p2"/>
          <p:cNvGrpSpPr/>
          <p:nvPr/>
        </p:nvGrpSpPr>
        <p:grpSpPr>
          <a:xfrm>
            <a:off x="3677236" y="4278349"/>
            <a:ext cx="5480829" cy="432996"/>
            <a:chOff x="5582265" y="4646738"/>
            <a:chExt cx="5480829" cy="432996"/>
          </a:xfrm>
        </p:grpSpPr>
        <p:sp>
          <p:nvSpPr>
            <p:cNvPr id="1048584"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19;p2"/>
            <p:cNvGrpSpPr/>
            <p:nvPr/>
          </p:nvGrpSpPr>
          <p:grpSpPr>
            <a:xfrm flipH="1">
              <a:off x="5585232" y="4646738"/>
              <a:ext cx="5477861" cy="304551"/>
              <a:chOff x="-24158748" y="330075"/>
              <a:chExt cx="30568423" cy="1699506"/>
            </a:xfrm>
          </p:grpSpPr>
          <p:sp>
            <p:nvSpPr>
              <p:cNvPr id="1048585"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6"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8587"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29" name="Google Shape;82;p6"/>
          <p:cNvGrpSpPr/>
          <p:nvPr/>
        </p:nvGrpSpPr>
        <p:grpSpPr>
          <a:xfrm>
            <a:off x="-4" y="40"/>
            <a:ext cx="7072430" cy="1327315"/>
            <a:chOff x="-4" y="40"/>
            <a:chExt cx="7072430" cy="1327315"/>
          </a:xfrm>
        </p:grpSpPr>
        <p:sp>
          <p:nvSpPr>
            <p:cNvPr id="104859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30" name="Google Shape;84;p6"/>
            <p:cNvGrpSpPr/>
            <p:nvPr/>
          </p:nvGrpSpPr>
          <p:grpSpPr>
            <a:xfrm rot="10800000" flipH="1">
              <a:off x="3" y="40"/>
              <a:ext cx="6756168" cy="1327315"/>
              <a:chOff x="-2168138" y="330075"/>
              <a:chExt cx="8650663" cy="1699506"/>
            </a:xfrm>
          </p:grpSpPr>
          <p:sp>
            <p:nvSpPr>
              <p:cNvPr id="1048594"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48595"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31" name="Google Shape;87;p6"/>
            <p:cNvGrpSpPr/>
            <p:nvPr/>
          </p:nvGrpSpPr>
          <p:grpSpPr>
            <a:xfrm rot="10800000" flipH="1">
              <a:off x="-4" y="381007"/>
              <a:ext cx="7072430" cy="771744"/>
              <a:chOff x="-9092084" y="330075"/>
              <a:chExt cx="15574609" cy="1699501"/>
            </a:xfrm>
          </p:grpSpPr>
          <p:sp>
            <p:nvSpPr>
              <p:cNvPr id="1048596"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48597"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32" name="Google Shape;90;p6"/>
          <p:cNvGrpSpPr/>
          <p:nvPr/>
        </p:nvGrpSpPr>
        <p:grpSpPr>
          <a:xfrm>
            <a:off x="6946842" y="4472723"/>
            <a:ext cx="2202830" cy="670795"/>
            <a:chOff x="5575242" y="4472723"/>
            <a:chExt cx="2202830" cy="670795"/>
          </a:xfrm>
        </p:grpSpPr>
        <p:sp>
          <p:nvSpPr>
            <p:cNvPr id="1048598"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92;p6"/>
            <p:cNvGrpSpPr/>
            <p:nvPr/>
          </p:nvGrpSpPr>
          <p:grpSpPr>
            <a:xfrm flipH="1">
              <a:off x="5734850" y="4472723"/>
              <a:ext cx="2040837" cy="670795"/>
              <a:chOff x="1297954" y="330075"/>
              <a:chExt cx="5169293" cy="1699506"/>
            </a:xfrm>
          </p:grpSpPr>
          <p:sp>
            <p:nvSpPr>
              <p:cNvPr id="1048599"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0"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95;p6"/>
            <p:cNvGrpSpPr/>
            <p:nvPr/>
          </p:nvGrpSpPr>
          <p:grpSpPr>
            <a:xfrm flipH="1">
              <a:off x="5578209" y="4646738"/>
              <a:ext cx="2199863" cy="304563"/>
              <a:chOff x="-5827153" y="330075"/>
              <a:chExt cx="12276019" cy="1699569"/>
            </a:xfrm>
          </p:grpSpPr>
          <p:sp>
            <p:nvSpPr>
              <p:cNvPr id="1048601"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2"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8603"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lvl1pPr>
            <a:lvl2pPr lvl="1">
              <a:spcBef>
                <a:spcPts val="0"/>
              </a:spcBef>
              <a:spcAft>
                <a:spcPts val="0"/>
              </a:spcAft>
              <a:buSzPts val="2000"/>
              <a:buNone/>
            </a:lvl2pPr>
            <a:lvl3pPr lvl="2">
              <a:spcBef>
                <a:spcPts val="0"/>
              </a:spcBef>
              <a:spcAft>
                <a:spcPts val="0"/>
              </a:spcAft>
              <a:buSzPts val="2000"/>
              <a:buNone/>
            </a:lvl3pPr>
            <a:lvl4pPr lvl="3">
              <a:spcBef>
                <a:spcPts val="0"/>
              </a:spcBef>
              <a:spcAft>
                <a:spcPts val="0"/>
              </a:spcAft>
              <a:buSzPts val="2000"/>
              <a:buNone/>
            </a:lvl4pPr>
            <a:lvl5pPr lvl="4">
              <a:spcBef>
                <a:spcPts val="0"/>
              </a:spcBef>
              <a:spcAft>
                <a:spcPts val="0"/>
              </a:spcAft>
              <a:buSzPts val="2000"/>
              <a:buNone/>
            </a:lvl5pPr>
            <a:lvl6pPr lvl="5">
              <a:spcBef>
                <a:spcPts val="0"/>
              </a:spcBef>
              <a:spcAft>
                <a:spcPts val="0"/>
              </a:spcAft>
              <a:buSzPts val="2000"/>
              <a:buNone/>
            </a:lvl6pPr>
            <a:lvl7pPr lvl="6">
              <a:spcBef>
                <a:spcPts val="0"/>
              </a:spcBef>
              <a:spcAft>
                <a:spcPts val="0"/>
              </a:spcAft>
              <a:buSzPts val="2000"/>
              <a:buNone/>
            </a:lvl7pPr>
            <a:lvl8pPr lvl="7">
              <a:spcBef>
                <a:spcPts val="0"/>
              </a:spcBef>
              <a:spcAft>
                <a:spcPts val="0"/>
              </a:spcAft>
              <a:buSzPts val="2000"/>
              <a:buNone/>
            </a:lvl8pPr>
            <a:lvl9pPr lvl="8">
              <a:spcBef>
                <a:spcPts val="0"/>
              </a:spcBef>
              <a:spcAft>
                <a:spcPts val="0"/>
              </a:spcAft>
              <a:buSzPts val="2000"/>
              <a:buNone/>
            </a:lvl9pPr>
          </a:lstStyle>
          <a:p>
            <a:endParaRPr/>
          </a:p>
        </p:txBody>
      </p:sp>
      <p:sp>
        <p:nvSpPr>
          <p:cNvPr id="1048604"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48605"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48606"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64" name="Google Shape;163;p10"/>
          <p:cNvGrpSpPr/>
          <p:nvPr/>
        </p:nvGrpSpPr>
        <p:grpSpPr>
          <a:xfrm rot="10800000">
            <a:off x="-8" y="-2"/>
            <a:ext cx="2202830" cy="670795"/>
            <a:chOff x="5575242" y="4472723"/>
            <a:chExt cx="2202830" cy="670795"/>
          </a:xfrm>
        </p:grpSpPr>
        <p:sp>
          <p:nvSpPr>
            <p:cNvPr id="1048660"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 name="Google Shape;165;p10"/>
            <p:cNvGrpSpPr/>
            <p:nvPr/>
          </p:nvGrpSpPr>
          <p:grpSpPr>
            <a:xfrm flipH="1">
              <a:off x="5734850" y="4472723"/>
              <a:ext cx="2040837" cy="670795"/>
              <a:chOff x="1297954" y="330075"/>
              <a:chExt cx="5169293" cy="1699506"/>
            </a:xfrm>
          </p:grpSpPr>
          <p:sp>
            <p:nvSpPr>
              <p:cNvPr id="1048661"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2"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168;p10"/>
            <p:cNvGrpSpPr/>
            <p:nvPr/>
          </p:nvGrpSpPr>
          <p:grpSpPr>
            <a:xfrm flipH="1">
              <a:off x="5578209" y="4646738"/>
              <a:ext cx="2199863" cy="304563"/>
              <a:chOff x="-5827153" y="330075"/>
              <a:chExt cx="12276019" cy="1699569"/>
            </a:xfrm>
          </p:grpSpPr>
          <p:sp>
            <p:nvSpPr>
              <p:cNvPr id="1048663"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4"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 name="Google Shape;171;p10"/>
          <p:cNvGrpSpPr/>
          <p:nvPr/>
        </p:nvGrpSpPr>
        <p:grpSpPr>
          <a:xfrm>
            <a:off x="6946842" y="4472723"/>
            <a:ext cx="2202830" cy="670795"/>
            <a:chOff x="5575242" y="4472723"/>
            <a:chExt cx="2202830" cy="670795"/>
          </a:xfrm>
        </p:grpSpPr>
        <p:sp>
          <p:nvSpPr>
            <p:cNvPr id="1048665"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173;p10"/>
            <p:cNvGrpSpPr/>
            <p:nvPr/>
          </p:nvGrpSpPr>
          <p:grpSpPr>
            <a:xfrm flipH="1">
              <a:off x="5734850" y="4472723"/>
              <a:ext cx="2040837" cy="670795"/>
              <a:chOff x="1297954" y="330075"/>
              <a:chExt cx="5169293" cy="1699506"/>
            </a:xfrm>
          </p:grpSpPr>
          <p:sp>
            <p:nvSpPr>
              <p:cNvPr id="1048666"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7"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176;p10"/>
            <p:cNvGrpSpPr/>
            <p:nvPr/>
          </p:nvGrpSpPr>
          <p:grpSpPr>
            <a:xfrm flipH="1">
              <a:off x="5578209" y="4646738"/>
              <a:ext cx="2199863" cy="304563"/>
              <a:chOff x="-5827153" y="330075"/>
              <a:chExt cx="12276019" cy="1699569"/>
            </a:xfrm>
          </p:grpSpPr>
          <p:sp>
            <p:nvSpPr>
              <p:cNvPr id="1048668"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69"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8670"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104857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104857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lang="e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588" name="Google Shape;184;p11"/>
          <p:cNvSpPr txBox="1">
            <a:spLocks noGrp="1"/>
          </p:cNvSpPr>
          <p:nvPr>
            <p:ph type="ctrTitle"/>
          </p:nvPr>
        </p:nvSpPr>
        <p:spPr>
          <a:xfrm>
            <a:off x="502920" y="1115568"/>
            <a:ext cx="5074920" cy="1783080"/>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200"/>
              </a:spcAft>
              <a:buNone/>
            </a:pPr>
            <a:r>
              <a:rPr lang="en-US" sz="2400" b="1" i="0" dirty="0">
                <a:solidFill>
                  <a:srgbClr val="263248"/>
                </a:solidFill>
                <a:latin typeface="Verdana" pitchFamily="34" charset="0"/>
                <a:ea typeface="Verdana" pitchFamily="34" charset="0"/>
                <a:cs typeface="Verdana" pitchFamily="34" charset="0"/>
              </a:rPr>
              <a:t xml:space="preserve">FLOOD DETECTION FROM</a:t>
            </a:r>
          </a:p>
          <a:p>
            <a:pPr marL="0" indent="0" algn="l" rtl="0">
              <a:lnSpc>
                <a:spcPct val="100000"/>
              </a:lnSpc>
              <a:spcBef>
                <a:spcPts val="0"/>
              </a:spcBef>
              <a:spcAft>
                <a:spcPts val="200"/>
              </a:spcAft>
              <a:buNone/>
            </a:pPr>
            <a:r>
              <a:rPr lang="en-US" sz="2400" b="1" i="0" dirty="0">
                <a:solidFill>
                  <a:srgbClr val="263248"/>
                </a:solidFill>
                <a:latin typeface="Verdana" pitchFamily="34" charset="0"/>
                <a:ea typeface="Verdana" pitchFamily="34" charset="0"/>
                <a:cs typeface="Verdana" pitchFamily="34" charset="0"/>
              </a:rPr>
              <a:t xml:space="preserve">AERIAL IMAGERY USING</a:t>
            </a:r>
          </a:p>
          <a:p>
            <a:pPr marL="0" indent="0" algn="l" rtl="0">
              <a:lnSpc>
                <a:spcPct val="100000"/>
              </a:lnSpc>
              <a:spcBef>
                <a:spcPts val="0"/>
              </a:spcBef>
              <a:spcAft>
                <a:spcPts val="0"/>
              </a:spcAft>
              <a:buNone/>
            </a:pPr>
            <a:r>
              <a:rPr lang="en-US" sz="2400" b="1" i="0" dirty="0">
                <a:solidFill>
                  <a:srgbClr val="3F5378"/>
                </a:solidFill>
                <a:latin typeface="Verdana" pitchFamily="34" charset="0"/>
                <a:ea typeface="Verdana" pitchFamily="34" charset="0"/>
                <a:cs typeface="Verdana" pitchFamily="34" charset="0"/>
              </a:rPr>
              <a:t xml:space="preserve">DEEP LEARNING</a:t>
            </a:r>
          </a:p>
        </p:txBody>
      </p:sp>
      <p:sp>
        <p:nvSpPr>
          <p:cNvPr id="1048590" name="Espace réservé du texte 4"/>
          <p:cNvSpPr txBox="1"/>
          <p:nvPr/>
        </p:nvSpPr>
        <p:spPr>
          <a:xfrm>
            <a:off x="5897880" y="1280160"/>
            <a:ext cx="2743200" cy="2926080"/>
          </a:xfrm>
          <a:prstGeom prst="rect">
            <a:avLst/>
          </a:prstGeom>
        </p:spPr>
        <p:txBody>
          <a:bodyPr anchor="ctr" lIns="45720" tIns="45720" rIns="45720" bIns="4572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l" rtl="0">
              <a:lnSpc>
                <a:spcPct val="100000"/>
              </a:lnSpc>
              <a:spcBef>
                <a:spcPts val="0"/>
              </a:spcBef>
              <a:spcAft>
                <a:spcPts val="500"/>
              </a:spcAft>
              <a:buNone/>
            </a:pPr>
            <a:r>
              <a:rPr lang="en-US" sz="1150" b="1" i="0" dirty="0">
                <a:solidFill>
                  <a:srgbClr val="3F5378"/>
                </a:solidFill>
                <a:latin typeface="Verdana" pitchFamily="34" charset="0"/>
                <a:ea typeface="Verdana" pitchFamily="34" charset="0"/>
                <a:cs typeface="Verdana" pitchFamily="34" charset="0"/>
              </a:rPr>
              <a:t xml:space="preserve">TEAM GALAXY GUARDIANS</a:t>
            </a:r>
          </a:p>
          <a:p>
            <a:pPr marL="0" indent="0" algn="l" rtl="0">
              <a:lnSpc>
                <a:spcPct val="100000"/>
              </a:lnSpc>
              <a:spcBef>
                <a:spcPts val="0"/>
              </a:spcBef>
              <a:spcAft>
                <a:spcPts val="260"/>
              </a:spcAft>
              <a:buNone/>
            </a:pPr>
            <a:r>
              <a:rPr lang="en-US" sz="1200" b="1" i="0" dirty="0">
                <a:solidFill>
                  <a:srgbClr val="263248"/>
                </a:solidFill>
                <a:latin typeface="Verdana" pitchFamily="34" charset="0"/>
                <a:ea typeface="Verdana" pitchFamily="34" charset="0"/>
                <a:cs typeface="Verdana" pitchFamily="34" charset="0"/>
              </a:rPr>
              <a:t xml:space="preserve">Pavithran S</a:t>
            </a:r>
            <a:r>
              <a:rPr lang="en-US" sz="1050" b="0" i="0" dirty="0">
                <a:solidFill>
                  <a:srgbClr val="5A6880"/>
                </a:solidFill>
                <a:latin typeface="Verdana" pitchFamily="34" charset="0"/>
                <a:ea typeface="Verdana" pitchFamily="34" charset="0"/>
                <a:cs typeface="Verdana" pitchFamily="34" charset="0"/>
              </a:rPr>
              <a:t xml:space="preserve">   24uad056</a:t>
            </a:r>
          </a:p>
          <a:p>
            <a:pPr marL="0" indent="0" algn="l" rtl="0">
              <a:lnSpc>
                <a:spcPct val="100000"/>
              </a:lnSpc>
              <a:spcBef>
                <a:spcPts val="0"/>
              </a:spcBef>
              <a:spcAft>
                <a:spcPts val="260"/>
              </a:spcAft>
              <a:buNone/>
            </a:pPr>
            <a:r>
              <a:rPr lang="en-US" sz="1200" b="1" i="0" dirty="0">
                <a:solidFill>
                  <a:srgbClr val="263248"/>
                </a:solidFill>
                <a:latin typeface="Verdana" pitchFamily="34" charset="0"/>
                <a:ea typeface="Verdana" pitchFamily="34" charset="0"/>
                <a:cs typeface="Verdana" pitchFamily="34" charset="0"/>
              </a:rPr>
              <a:t xml:space="preserve">BalaYoghi V</a:t>
            </a:r>
            <a:r>
              <a:rPr lang="en-US" sz="1050" b="0" i="0" dirty="0">
                <a:solidFill>
                  <a:srgbClr val="5A6880"/>
                </a:solidFill>
                <a:latin typeface="Verdana" pitchFamily="34" charset="0"/>
                <a:ea typeface="Verdana" pitchFamily="34" charset="0"/>
                <a:cs typeface="Verdana" pitchFamily="34" charset="0"/>
              </a:rPr>
              <a:t xml:space="preserve">   24uad045</a:t>
            </a:r>
          </a:p>
          <a:p>
            <a:pPr marL="0" indent="0" algn="l" rtl="0">
              <a:lnSpc>
                <a:spcPct val="100000"/>
              </a:lnSpc>
              <a:spcBef>
                <a:spcPts val="0"/>
              </a:spcBef>
              <a:spcAft>
                <a:spcPts val="600"/>
              </a:spcAft>
              <a:buNone/>
            </a:pPr>
            <a:r>
              <a:rPr lang="en-US" sz="1200" b="1" i="0" dirty="0">
                <a:solidFill>
                  <a:srgbClr val="263248"/>
                </a:solidFill>
                <a:latin typeface="Verdana" pitchFamily="34" charset="0"/>
                <a:ea typeface="Verdana" pitchFamily="34" charset="0"/>
                <a:cs typeface="Verdana" pitchFamily="34" charset="0"/>
              </a:rPr>
              <a:t xml:space="preserve">Vishal K</a:t>
            </a:r>
            <a:r>
              <a:rPr lang="en-US" sz="1050" b="0" i="0" dirty="0">
                <a:solidFill>
                  <a:srgbClr val="5A6880"/>
                </a:solidFill>
                <a:latin typeface="Verdana" pitchFamily="34" charset="0"/>
                <a:ea typeface="Verdana" pitchFamily="34" charset="0"/>
                <a:cs typeface="Verdana" pitchFamily="34" charset="0"/>
              </a:rPr>
              <a:t xml:space="preserve">   24uad010</a:t>
            </a:r>
          </a:p>
          <a:p>
            <a:pPr marL="0" indent="0" algn="l" rtl="0">
              <a:lnSpc>
                <a:spcPct val="100000"/>
              </a:lnSpc>
              <a:spcBef>
                <a:spcPts val="0"/>
              </a:spcBef>
              <a:spcAft>
                <a:spcPts val="180"/>
              </a:spcAft>
              <a:buNone/>
            </a:pPr>
            <a:r>
              <a:rPr lang="en-US" sz="1100" b="0" i="0" dirty="0">
                <a:solidFill>
                  <a:srgbClr val="263248"/>
                </a:solidFill>
                <a:latin typeface="Verdana" pitchFamily="34" charset="0"/>
                <a:ea typeface="Verdana" pitchFamily="34" charset="0"/>
                <a:cs typeface="Verdana" pitchFamily="34" charset="0"/>
              </a:rPr>
              <a:t xml:space="preserve">III ADS</a:t>
            </a:r>
          </a:p>
          <a:p>
            <a:pPr marL="0" indent="0" algn="l" rtl="0">
              <a:lnSpc>
                <a:spcPct val="100000"/>
              </a:lnSpc>
              <a:spcBef>
                <a:spcPts val="0"/>
              </a:spcBef>
              <a:spcAft>
                <a:spcPts val="0"/>
              </a:spcAft>
              <a:buNone/>
            </a:pPr>
            <a:r>
              <a:rPr lang="en-US" sz="1100" b="0" i="0" dirty="0">
                <a:solidFill>
                  <a:srgbClr val="263248"/>
                </a:solidFill>
                <a:latin typeface="Verdana" pitchFamily="34" charset="0"/>
                <a:ea typeface="Verdana" pitchFamily="34" charset="0"/>
                <a:cs typeface="Verdana" pitchFamily="34" charset="0"/>
              </a:rPr>
              <a:t xml:space="preserve">2024 – 2028 Batch</a:t>
            </a:r>
          </a:p>
        </p:txBody>
      </p:sp>
      <p:pic>
        <p:nvPicPr>
          <p:cNvPr id="2097152" name="Picture 2" descr="C:\Users\Sou Jana\Desktop\thumbnail_Outlook-zw4menww.jpg"/>
          <p:cNvPicPr>
            <a:picLocks noChangeAspect="1" noChangeArrowheads="1"/>
          </p:cNvPicPr>
          <p:nvPr/>
        </p:nvPicPr>
        <p:blipFill>
          <a:blip r:embed="rId3"/>
          <a:srcRect/>
          <a:stretch>
            <a:fillRect/>
          </a:stretch>
        </p:blipFill>
        <p:spPr bwMode="auto">
          <a:xfrm>
            <a:off x="0" y="0"/>
            <a:ext cx="3357554" cy="857238"/>
          </a:xfrm>
          <a:prstGeom prst="rect">
            <a:avLst/>
          </a:prstGeom>
          <a:noFill/>
        </p:spPr>
      </p:pic>
      <p:sp>
        <p:nvSpPr>
          <p:cNvPr id="2097153" name="TextBox 2097152"/>
          <p:cNvSpPr txBox="1"/>
          <p:nvPr/>
        </p:nvSpPr>
        <p:spPr>
          <a:xfrm>
            <a:off x="566928" y="3017520"/>
            <a:ext cx="4983480" cy="868680"/>
          </a:xfrm>
          <a:prstGeom prst="rect">
            <a:avLst/>
          </a:prstGeom>
          <a:noFill/>
        </p:spPr>
        <p:txBody>
          <a:bodyPr wrap="square" anchor="t" lIns="54864" tIns="36576" rIns="54864" bIns="36576">
            <a:noAutofit/>
          </a:bodyPr>
          <a:lstStyle/>
          <a:p>
            <a:pPr marL="0" indent="0" algn="l" rtl="0">
              <a:lnSpc>
                <a:spcPct val="100000"/>
              </a:lnSpc>
              <a:spcBef>
                <a:spcPts val="0"/>
              </a:spcBef>
              <a:spcAft>
                <a:spcPts val="300"/>
              </a:spcAft>
              <a:buNone/>
            </a:pPr>
            <a:r>
              <a:rPr lang="en-US" sz="1200" b="0" i="1" dirty="0">
                <a:solidFill>
                  <a:srgbClr val="3F5378"/>
                </a:solidFill>
                <a:latin typeface="Verdana" pitchFamily="34" charset="0"/>
                <a:ea typeface="Verdana" pitchFamily="34" charset="0"/>
                <a:cs typeface="Verdana" pitchFamily="34" charset="0"/>
              </a:rPr>
              <a:t xml:space="preserve">MobileNetV2 transfer learning with Grad-CAM evidence</a:t>
            </a:r>
          </a:p>
          <a:p>
            <a:pPr marL="0" indent="0" algn="l" rtl="0">
              <a:lnSpc>
                <a:spcPct val="100000"/>
              </a:lnSpc>
              <a:spcBef>
                <a:spcPts val="0"/>
              </a:spcBef>
              <a:spcAft>
                <a:spcPts val="0"/>
              </a:spcAft>
              <a:buNone/>
            </a:pPr>
            <a:r>
              <a:rPr lang="en-US" sz="1100" b="0" i="0" dirty="0">
                <a:solidFill>
                  <a:srgbClr val="5A6880"/>
                </a:solidFill>
                <a:latin typeface="Verdana" pitchFamily="34" charset="0"/>
                <a:ea typeface="Verdana" pitchFamily="34" charset="0"/>
                <a:cs typeface="Verdana" pitchFamily="34" charset="0"/>
              </a:rPr>
              <a:t xml:space="preserve">AI2304 — Deep Learning Laboratory</a:t>
            </a:r>
          </a:p>
        </p:txBody>
      </p:sp>
      <p:sp>
        <p:nvSpPr>
          <p:cNvPr id="2097154" name="Rounded Rectangle 2097153"/>
          <p:cNvSpPr/>
          <p:nvPr/>
        </p:nvSpPr>
        <p:spPr>
          <a:xfrm>
            <a:off x="5742432" y="1115568"/>
            <a:ext cx="3017520" cy="32461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a:xfrm>
            <a:off x="502920" y="384048"/>
            <a:ext cx="8138160" cy="768096"/>
          </a:xfrm>
        </p:spPr>
        <p:txBody>
          <a:bodyPr anchor="ctr">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CONTENTS</a:t>
            </a:r>
          </a:p>
        </p:txBody>
      </p:sp>
      <p:sp>
        <p:nvSpPr>
          <p:cNvPr id="1048611" name="Text Placeholder 2"/>
          <p:cNvSpPr>
            <a:spLocks noGrp="1"/>
          </p:cNvSpPr>
          <p:nvPr>
            <p:ph type="body" idx="1"/>
          </p:nvPr>
        </p:nvSpPr>
        <p:spPr>
          <a:xfrm>
            <a:off x="822960" y="1417320"/>
            <a:ext cx="5669280" cy="3063240"/>
          </a:xfrm>
        </p:spPr>
        <p:txBody>
          <a:bodyPr anchor="ctr">
            <a:noAutofit/>
          </a:bodyPr>
          <a:lstStyle/>
          <a:p>
            <a:pPr marL="0" indent="0" algn="l" rtl="0">
              <a:lnSpc>
                <a:spcPct val="100000"/>
              </a:lnSpc>
              <a:spcBef>
                <a:spcPts val="0"/>
              </a:spcBef>
              <a:spcAft>
                <a:spcPts val="440"/>
              </a:spcAft>
              <a:buNone/>
            </a:pPr>
            <a:r>
              <a:rPr lang="en-US" sz="1600" b="1" i="0" dirty="0">
                <a:solidFill>
                  <a:srgbClr val="92A8C8"/>
                </a:solidFill>
                <a:latin typeface="Verdana" pitchFamily="34" charset="0"/>
                <a:ea typeface="Verdana" pitchFamily="34" charset="0"/>
                <a:cs typeface="Verdana" pitchFamily="34" charset="0"/>
              </a:rPr>
              <a:t xml:space="preserve">1.  </a:t>
            </a:r>
            <a:r>
              <a:rPr lang="en-US" sz="1600" b="0" i="0" dirty="0">
                <a:solidFill>
                  <a:srgbClr val="263248"/>
                </a:solidFill>
                <a:latin typeface="Verdana" pitchFamily="34" charset="0"/>
                <a:ea typeface="Verdana" pitchFamily="34" charset="0"/>
                <a:cs typeface="Verdana" pitchFamily="34" charset="0"/>
              </a:rPr>
              <a:t xml:space="preserve">PROBLEM STATEMENT</a:t>
            </a:r>
          </a:p>
          <a:p>
            <a:pPr marL="0" indent="0" algn="l" rtl="0">
              <a:lnSpc>
                <a:spcPct val="100000"/>
              </a:lnSpc>
              <a:spcBef>
                <a:spcPts val="0"/>
              </a:spcBef>
              <a:spcAft>
                <a:spcPts val="440"/>
              </a:spcAft>
              <a:buNone/>
            </a:pPr>
            <a:r>
              <a:rPr lang="en-US" sz="1600" b="1" i="0" dirty="0">
                <a:solidFill>
                  <a:srgbClr val="92A8C8"/>
                </a:solidFill>
                <a:latin typeface="Verdana" pitchFamily="34" charset="0"/>
                <a:ea typeface="Verdana" pitchFamily="34" charset="0"/>
                <a:cs typeface="Verdana" pitchFamily="34" charset="0"/>
              </a:rPr>
              <a:t xml:space="preserve">2.  </a:t>
            </a:r>
            <a:r>
              <a:rPr lang="en-US" sz="1600" b="0" i="0" dirty="0">
                <a:solidFill>
                  <a:srgbClr val="263248"/>
                </a:solidFill>
                <a:latin typeface="Verdana" pitchFamily="34" charset="0"/>
                <a:ea typeface="Verdana" pitchFamily="34" charset="0"/>
                <a:cs typeface="Verdana" pitchFamily="34" charset="0"/>
              </a:rPr>
              <a:t xml:space="preserve">OBJECTIVES</a:t>
            </a:r>
          </a:p>
          <a:p>
            <a:pPr marL="0" indent="0" algn="l" rtl="0">
              <a:lnSpc>
                <a:spcPct val="100000"/>
              </a:lnSpc>
              <a:spcBef>
                <a:spcPts val="0"/>
              </a:spcBef>
              <a:spcAft>
                <a:spcPts val="440"/>
              </a:spcAft>
              <a:buNone/>
            </a:pPr>
            <a:r>
              <a:rPr lang="en-US" sz="1600" b="1" i="0" dirty="0">
                <a:solidFill>
                  <a:srgbClr val="92A8C8"/>
                </a:solidFill>
                <a:latin typeface="Verdana" pitchFamily="34" charset="0"/>
                <a:ea typeface="Verdana" pitchFamily="34" charset="0"/>
                <a:cs typeface="Verdana" pitchFamily="34" charset="0"/>
              </a:rPr>
              <a:t xml:space="preserve">3.  </a:t>
            </a:r>
            <a:r>
              <a:rPr lang="en-US" sz="1600" b="0" i="0" dirty="0">
                <a:solidFill>
                  <a:srgbClr val="263248"/>
                </a:solidFill>
                <a:latin typeface="Verdana" pitchFamily="34" charset="0"/>
                <a:ea typeface="Verdana" pitchFamily="34" charset="0"/>
                <a:cs typeface="Verdana" pitchFamily="34" charset="0"/>
              </a:rPr>
              <a:t xml:space="preserve">REQUIREMENT SPECIFICATION</a:t>
            </a:r>
          </a:p>
          <a:p>
            <a:pPr marL="0" indent="0" algn="l" rtl="0">
              <a:lnSpc>
                <a:spcPct val="100000"/>
              </a:lnSpc>
              <a:spcBef>
                <a:spcPts val="0"/>
              </a:spcBef>
              <a:spcAft>
                <a:spcPts val="440"/>
              </a:spcAft>
              <a:buNone/>
            </a:pPr>
            <a:r>
              <a:rPr lang="en-US" sz="1600" b="1" i="0" dirty="0">
                <a:solidFill>
                  <a:srgbClr val="92A8C8"/>
                </a:solidFill>
                <a:latin typeface="Verdana" pitchFamily="34" charset="0"/>
                <a:ea typeface="Verdana" pitchFamily="34" charset="0"/>
                <a:cs typeface="Verdana" pitchFamily="34" charset="0"/>
              </a:rPr>
              <a:t xml:space="preserve">4.  </a:t>
            </a:r>
            <a:r>
              <a:rPr lang="en-US" sz="1600" b="0" i="0" dirty="0">
                <a:solidFill>
                  <a:srgbClr val="263248"/>
                </a:solidFill>
                <a:latin typeface="Verdana" pitchFamily="34" charset="0"/>
                <a:ea typeface="Verdana" pitchFamily="34" charset="0"/>
                <a:cs typeface="Verdana" pitchFamily="34" charset="0"/>
              </a:rPr>
              <a:t xml:space="preserve">SYSTEM DESIGN</a:t>
            </a:r>
          </a:p>
          <a:p>
            <a:pPr marL="0" indent="0" algn="l" rtl="0">
              <a:lnSpc>
                <a:spcPct val="100000"/>
              </a:lnSpc>
              <a:spcBef>
                <a:spcPts val="0"/>
              </a:spcBef>
              <a:spcAft>
                <a:spcPts val="440"/>
              </a:spcAft>
              <a:buNone/>
            </a:pPr>
            <a:r>
              <a:rPr lang="en-US" sz="1600" b="1" i="0" dirty="0">
                <a:solidFill>
                  <a:srgbClr val="92A8C8"/>
                </a:solidFill>
                <a:latin typeface="Verdana" pitchFamily="34" charset="0"/>
                <a:ea typeface="Verdana" pitchFamily="34" charset="0"/>
                <a:cs typeface="Verdana" pitchFamily="34" charset="0"/>
              </a:rPr>
              <a:t xml:space="preserve">5.  </a:t>
            </a:r>
            <a:r>
              <a:rPr lang="en-US" sz="1600" b="0" i="0" dirty="0">
                <a:solidFill>
                  <a:srgbClr val="263248"/>
                </a:solidFill>
                <a:latin typeface="Verdana" pitchFamily="34" charset="0"/>
                <a:ea typeface="Verdana" pitchFamily="34" charset="0"/>
                <a:cs typeface="Verdana" pitchFamily="34" charset="0"/>
              </a:rPr>
              <a:t xml:space="preserve">RESULTS</a:t>
            </a:r>
          </a:p>
          <a:p>
            <a:pPr marL="0" indent="0" algn="l" rtl="0">
              <a:lnSpc>
                <a:spcPct val="100000"/>
              </a:lnSpc>
              <a:spcBef>
                <a:spcPts val="0"/>
              </a:spcBef>
              <a:spcAft>
                <a:spcPts val="440"/>
              </a:spcAft>
              <a:buNone/>
            </a:pPr>
            <a:r>
              <a:rPr lang="en-US" sz="1600" b="1" i="0" dirty="0">
                <a:solidFill>
                  <a:srgbClr val="92A8C8"/>
                </a:solidFill>
                <a:latin typeface="Verdana" pitchFamily="34" charset="0"/>
                <a:ea typeface="Verdana" pitchFamily="34" charset="0"/>
                <a:cs typeface="Verdana" pitchFamily="34" charset="0"/>
              </a:rPr>
              <a:t xml:space="preserve">6.  </a:t>
            </a:r>
            <a:r>
              <a:rPr lang="en-US" sz="1600" b="0" i="0" dirty="0">
                <a:solidFill>
                  <a:srgbClr val="263248"/>
                </a:solidFill>
                <a:latin typeface="Verdana" pitchFamily="34" charset="0"/>
                <a:ea typeface="Verdana" pitchFamily="34" charset="0"/>
                <a:cs typeface="Verdana" pitchFamily="34" charset="0"/>
              </a:rPr>
              <a:t xml:space="preserve">CONCLUSION</a:t>
            </a:r>
          </a:p>
        </p:txBody>
      </p:sp>
      <p:sp>
        <p:nvSpPr>
          <p:cNvPr id="1048612"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
        <p:nvSpPr>
          <p:cNvPr id="1048613" name="Rounded Rectangle 1048612"/>
          <p:cNvSpPr/>
          <p:nvPr/>
        </p:nvSpPr>
        <p:spPr>
          <a:xfrm>
            <a:off x="6812280" y="1645920"/>
            <a:ext cx="1874519" cy="1874519"/>
          </a:xfrm>
          <a:prstGeom prst="roundRect">
            <a:avLst>
              <a:gd name="adj" fmla="val 8000"/>
            </a:avLst>
          </a:prstGeom>
          <a:solidFill>
            <a:srgbClr val="263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14" name="TextBox 1048613"/>
          <p:cNvSpPr txBox="1"/>
          <p:nvPr/>
        </p:nvSpPr>
        <p:spPr>
          <a:xfrm>
            <a:off x="6903720" y="2103120"/>
            <a:ext cx="1691640" cy="1005840"/>
          </a:xfrm>
          <a:prstGeom prst="rect">
            <a:avLst/>
          </a:prstGeom>
          <a:noFill/>
        </p:spPr>
        <p:txBody>
          <a:bodyPr wrap="square" anchor="t" lIns="54864" tIns="36576" rIns="54864" bIns="36576">
            <a:noAutofit/>
          </a:bodyPr>
          <a:lstStyle/>
          <a:p>
            <a:pPr marL="0" indent="0" algn="ctr" rtl="0">
              <a:lnSpc>
                <a:spcPct val="100000"/>
              </a:lnSpc>
              <a:spcBef>
                <a:spcPts val="0"/>
              </a:spcBef>
              <a:spcAft>
                <a:spcPts val="120"/>
              </a:spcAft>
              <a:buNone/>
            </a:pPr>
            <a:r>
              <a:rPr lang="en-US" sz="3200" b="1" i="0" dirty="0">
                <a:solidFill>
                  <a:srgbClr val="FF9800"/>
                </a:solidFill>
                <a:latin typeface="Verdana" pitchFamily="34" charset="0"/>
                <a:ea typeface="Verdana" pitchFamily="34" charset="0"/>
                <a:cs typeface="Verdana" pitchFamily="34" charset="0"/>
              </a:rPr>
              <a:t xml:space="preserve">6</a:t>
            </a:r>
          </a:p>
          <a:p>
            <a:pPr marL="0" indent="0" algn="ctr" rtl="0">
              <a:lnSpc>
                <a:spcPct val="100000"/>
              </a:lnSpc>
              <a:spcBef>
                <a:spcPts val="0"/>
              </a:spcBef>
              <a:spcAft>
                <a:spcPts val="0"/>
              </a:spcAft>
              <a:buNone/>
            </a:pPr>
            <a:r>
              <a:rPr lang="en-US" sz="900" b="1" i="0" dirty="0">
                <a:solidFill>
                  <a:srgbClr val="C7D3E6"/>
                </a:solidFill>
                <a:latin typeface="Verdana" pitchFamily="34" charset="0"/>
                <a:ea typeface="Verdana" pitchFamily="34" charset="0"/>
                <a:cs typeface="Verdana" pitchFamily="34" charset="0"/>
              </a:rPr>
              <a:t xml:space="preserve">SECTIONS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14"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Problem Statement</a:t>
            </a:r>
          </a:p>
        </p:txBody>
      </p:sp>
      <p:sp>
        <p:nvSpPr>
          <p:cNvPr id="1048615"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lang="en"/>
          </a:p>
        </p:txBody>
      </p:sp>
      <p:sp>
        <p:nvSpPr>
          <p:cNvPr id="1048616" name="Content Placeholder 2"/>
          <p:cNvSpPr txBox="1"/>
          <p:nvPr/>
        </p:nvSpPr>
        <p:spPr>
          <a:xfrm>
            <a:off x="502920" y="1371600"/>
            <a:ext cx="5120640" cy="31546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0" indent="0" algn="l" rtl="0">
              <a:lnSpc>
                <a:spcPct val="125000"/>
              </a:lnSpc>
              <a:spcBef>
                <a:spcPts val="0"/>
              </a:spcBef>
              <a:spcAft>
                <a:spcPts val="460"/>
              </a:spcAft>
              <a:buNone/>
            </a:pPr>
            <a:r>
              <a:rPr lang="en-US" sz="1200" b="0" i="0" dirty="0">
                <a:solidFill>
                  <a:srgbClr val="263248"/>
                </a:solidFill>
                <a:latin typeface="Verdana" pitchFamily="34" charset="0"/>
                <a:ea typeface="Verdana" pitchFamily="34" charset="0"/>
                <a:cs typeface="Verdana" pitchFamily="34" charset="0"/>
              </a:rPr>
              <a:t xml:space="preserve">Floods are among the most frequent and destructive natural disasters, and the speed of the emergency response depends on how quickly the flooded areas are located. Drones and aircraft now capture far more aerial imagery than human operators can inspect in time, so the bottleneck is no longer taking the pictures but reading them.</a:t>
            </a:r>
          </a:p>
          <a:p>
            <a:pPr marL="0" indent="0" algn="l" rtl="0">
              <a:lnSpc>
                <a:spcPct val="12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This project automates that reading step. It classifies an aerial image as flood or no flood and, because a wrong verdict either costs lives or wastes rescue effort, it also shows the visual evidence behind every decision, so an operator can tell whether the model looked at flood water or at something irrelevant.</a:t>
            </a:r>
          </a:p>
        </p:txBody>
      </p:sp>
      <p:sp>
        <p:nvSpPr>
          <p:cNvPr id="1048617" name="Rounded Rectangle 1048616"/>
          <p:cNvSpPr/>
          <p:nvPr/>
        </p:nvSpPr>
        <p:spPr>
          <a:xfrm>
            <a:off x="5897880" y="1371600"/>
            <a:ext cx="2788920" cy="676656"/>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18" name="TextBox 1048617"/>
          <p:cNvSpPr txBox="1"/>
          <p:nvPr/>
        </p:nvSpPr>
        <p:spPr>
          <a:xfrm>
            <a:off x="6053328" y="1426464"/>
            <a:ext cx="960120" cy="566928"/>
          </a:xfrm>
          <a:prstGeom prst="rect">
            <a:avLst/>
          </a:prstGeom>
          <a:noFill/>
        </p:spPr>
        <p:txBody>
          <a:bodyPr wrap="square" anchor="ctr" lIns="54864" tIns="36576" rIns="54864" bIns="36576">
            <a:noAutofit/>
          </a:bodyPr>
          <a:lstStyle/>
          <a:p>
            <a:pPr marL="0" indent="0" algn="r" rtl="0">
              <a:lnSpc>
                <a:spcPct val="100000"/>
              </a:lnSpc>
              <a:spcBef>
                <a:spcPts val="0"/>
              </a:spcBef>
              <a:spcAft>
                <a:spcPts val="0"/>
              </a:spcAft>
              <a:buNone/>
            </a:pPr>
            <a:r>
              <a:rPr lang="en-US" sz="1800" b="1" i="0" dirty="0">
                <a:solidFill>
                  <a:srgbClr val="3F5378"/>
                </a:solidFill>
                <a:latin typeface="Verdana" pitchFamily="34" charset="0"/>
                <a:ea typeface="Verdana" pitchFamily="34" charset="0"/>
                <a:cs typeface="Verdana" pitchFamily="34" charset="0"/>
              </a:rPr>
              <a:t xml:space="preserve">4,916</a:t>
            </a:r>
          </a:p>
        </p:txBody>
      </p:sp>
      <p:sp>
        <p:nvSpPr>
          <p:cNvPr id="1048619" name="TextBox 1048618"/>
          <p:cNvSpPr txBox="1"/>
          <p:nvPr/>
        </p:nvSpPr>
        <p:spPr>
          <a:xfrm>
            <a:off x="7114032" y="1426464"/>
            <a:ext cx="1463040" cy="566928"/>
          </a:xfrm>
          <a:prstGeom prst="rect">
            <a:avLst/>
          </a:prstGeom>
          <a:noFill/>
        </p:spPr>
        <p:txBody>
          <a:bodyPr wrap="square" anchor="ctr" lIns="54864" tIns="36576" rIns="54864" bIns="36576">
            <a:noAutofit/>
          </a:bodyPr>
          <a:lstStyle/>
          <a:p>
            <a:pPr marL="0" indent="0" algn="l" rtl="0">
              <a:lnSpc>
                <a:spcPct val="100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AIDER aerial images</a:t>
            </a:r>
          </a:p>
        </p:txBody>
      </p:sp>
      <p:sp>
        <p:nvSpPr>
          <p:cNvPr id="1048620" name="Rounded Rectangle 1048619"/>
          <p:cNvSpPr/>
          <p:nvPr/>
        </p:nvSpPr>
        <p:spPr>
          <a:xfrm>
            <a:off x="5897880" y="2157984"/>
            <a:ext cx="2788920" cy="676656"/>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21" name="TextBox 1048620"/>
          <p:cNvSpPr txBox="1"/>
          <p:nvPr/>
        </p:nvSpPr>
        <p:spPr>
          <a:xfrm>
            <a:off x="6053328" y="2212848"/>
            <a:ext cx="960120" cy="566928"/>
          </a:xfrm>
          <a:prstGeom prst="rect">
            <a:avLst/>
          </a:prstGeom>
          <a:noFill/>
        </p:spPr>
        <p:txBody>
          <a:bodyPr wrap="square" anchor="ctr" lIns="54864" tIns="36576" rIns="54864" bIns="36576">
            <a:noAutofit/>
          </a:bodyPr>
          <a:lstStyle/>
          <a:p>
            <a:pPr marL="0" indent="0" algn="r" rtl="0">
              <a:lnSpc>
                <a:spcPct val="100000"/>
              </a:lnSpc>
              <a:spcBef>
                <a:spcPts val="0"/>
              </a:spcBef>
              <a:spcAft>
                <a:spcPts val="0"/>
              </a:spcAft>
              <a:buNone/>
            </a:pPr>
            <a:r>
              <a:rPr lang="en-US" sz="1800" b="1" i="0" dirty="0">
                <a:solidFill>
                  <a:srgbClr val="3F5378"/>
                </a:solidFill>
                <a:latin typeface="Verdana" pitchFamily="34" charset="0"/>
                <a:ea typeface="Verdana" pitchFamily="34" charset="0"/>
                <a:cs typeface="Verdana" pitchFamily="34" charset="0"/>
              </a:rPr>
              <a:t xml:space="preserve">2</a:t>
            </a:r>
          </a:p>
        </p:txBody>
      </p:sp>
      <p:sp>
        <p:nvSpPr>
          <p:cNvPr id="1048622" name="TextBox 1048621"/>
          <p:cNvSpPr txBox="1"/>
          <p:nvPr/>
        </p:nvSpPr>
        <p:spPr>
          <a:xfrm>
            <a:off x="7114032" y="2212848"/>
            <a:ext cx="1463040" cy="566928"/>
          </a:xfrm>
          <a:prstGeom prst="rect">
            <a:avLst/>
          </a:prstGeom>
          <a:noFill/>
        </p:spPr>
        <p:txBody>
          <a:bodyPr wrap="square" anchor="ctr" lIns="54864" tIns="36576" rIns="54864" bIns="36576">
            <a:noAutofit/>
          </a:bodyPr>
          <a:lstStyle/>
          <a:p>
            <a:pPr marL="0" indent="0" algn="l" rtl="0">
              <a:lnSpc>
                <a:spcPct val="100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classes: flood / no flood</a:t>
            </a:r>
          </a:p>
        </p:txBody>
      </p:sp>
      <p:sp>
        <p:nvSpPr>
          <p:cNvPr id="1048623" name="Rounded Rectangle 1048622"/>
          <p:cNvSpPr/>
          <p:nvPr/>
        </p:nvSpPr>
        <p:spPr>
          <a:xfrm>
            <a:off x="5897880" y="2944368"/>
            <a:ext cx="2788920" cy="676656"/>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24" name="TextBox 1048623"/>
          <p:cNvSpPr txBox="1"/>
          <p:nvPr/>
        </p:nvSpPr>
        <p:spPr>
          <a:xfrm>
            <a:off x="6053328" y="2999232"/>
            <a:ext cx="960120" cy="566928"/>
          </a:xfrm>
          <a:prstGeom prst="rect">
            <a:avLst/>
          </a:prstGeom>
          <a:noFill/>
        </p:spPr>
        <p:txBody>
          <a:bodyPr wrap="square" anchor="ctr" lIns="54864" tIns="36576" rIns="54864" bIns="36576">
            <a:noAutofit/>
          </a:bodyPr>
          <a:lstStyle/>
          <a:p>
            <a:pPr marL="0" indent="0" algn="r" rtl="0">
              <a:lnSpc>
                <a:spcPct val="100000"/>
              </a:lnSpc>
              <a:spcBef>
                <a:spcPts val="0"/>
              </a:spcBef>
              <a:spcAft>
                <a:spcPts val="0"/>
              </a:spcAft>
              <a:buNone/>
            </a:pPr>
            <a:r>
              <a:rPr lang="en-US" sz="1800" b="1" i="0" dirty="0">
                <a:solidFill>
                  <a:srgbClr val="3F5378"/>
                </a:solidFill>
                <a:latin typeface="Verdana" pitchFamily="34" charset="0"/>
                <a:ea typeface="Verdana" pitchFamily="34" charset="0"/>
                <a:cs typeface="Verdana" pitchFamily="34" charset="0"/>
              </a:rPr>
              <a:t xml:space="preserve">228</a:t>
            </a:r>
          </a:p>
        </p:txBody>
      </p:sp>
      <p:sp>
        <p:nvSpPr>
          <p:cNvPr id="1048625" name="TextBox 1048624"/>
          <p:cNvSpPr txBox="1"/>
          <p:nvPr/>
        </p:nvSpPr>
        <p:spPr>
          <a:xfrm>
            <a:off x="7114032" y="2999232"/>
            <a:ext cx="1463040" cy="566928"/>
          </a:xfrm>
          <a:prstGeom prst="rect">
            <a:avLst/>
          </a:prstGeom>
          <a:noFill/>
        </p:spPr>
        <p:txBody>
          <a:bodyPr wrap="square" anchor="ctr" lIns="54864" tIns="36576" rIns="54864" bIns="36576">
            <a:noAutofit/>
          </a:bodyPr>
          <a:lstStyle/>
          <a:p>
            <a:pPr marL="0" indent="0" algn="l" rtl="0">
              <a:lnSpc>
                <a:spcPct val="100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held-out test images</a:t>
            </a:r>
          </a:p>
        </p:txBody>
      </p:sp>
      <p:sp>
        <p:nvSpPr>
          <p:cNvPr id="1048626" name="Rounded Rectangle 1048625"/>
          <p:cNvSpPr/>
          <p:nvPr/>
        </p:nvSpPr>
        <p:spPr>
          <a:xfrm>
            <a:off x="5897880" y="3730752"/>
            <a:ext cx="2788920" cy="676656"/>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27" name="TextBox 1048626"/>
          <p:cNvSpPr txBox="1"/>
          <p:nvPr/>
        </p:nvSpPr>
        <p:spPr>
          <a:xfrm>
            <a:off x="6053328" y="3785615"/>
            <a:ext cx="960120" cy="566928"/>
          </a:xfrm>
          <a:prstGeom prst="rect">
            <a:avLst/>
          </a:prstGeom>
          <a:noFill/>
        </p:spPr>
        <p:txBody>
          <a:bodyPr wrap="square" anchor="ctr" lIns="54864" tIns="36576" rIns="54864" bIns="36576">
            <a:noAutofit/>
          </a:bodyPr>
          <a:lstStyle/>
          <a:p>
            <a:pPr marL="0" indent="0" algn="r" rtl="0">
              <a:lnSpc>
                <a:spcPct val="100000"/>
              </a:lnSpc>
              <a:spcBef>
                <a:spcPts val="0"/>
              </a:spcBef>
              <a:spcAft>
                <a:spcPts val="0"/>
              </a:spcAft>
              <a:buNone/>
            </a:pPr>
            <a:r>
              <a:rPr lang="en-US" sz="1800" b="1" i="0" dirty="0">
                <a:solidFill>
                  <a:srgbClr val="3F5378"/>
                </a:solidFill>
                <a:latin typeface="Verdana" pitchFamily="34" charset="0"/>
                <a:ea typeface="Verdana" pitchFamily="34" charset="0"/>
                <a:cs typeface="Verdana" pitchFamily="34" charset="0"/>
              </a:rPr>
              <a:t xml:space="preserve">1</a:t>
            </a:r>
          </a:p>
        </p:txBody>
      </p:sp>
      <p:sp>
        <p:nvSpPr>
          <p:cNvPr id="1048628" name="TextBox 1048627"/>
          <p:cNvSpPr txBox="1"/>
          <p:nvPr/>
        </p:nvSpPr>
        <p:spPr>
          <a:xfrm>
            <a:off x="7114032" y="3785615"/>
            <a:ext cx="1463040" cy="566928"/>
          </a:xfrm>
          <a:prstGeom prst="rect">
            <a:avLst/>
          </a:prstGeom>
          <a:noFill/>
        </p:spPr>
        <p:txBody>
          <a:bodyPr wrap="square" anchor="ctr" lIns="54864" tIns="36576" rIns="54864" bIns="36576">
            <a:noAutofit/>
          </a:bodyPr>
          <a:lstStyle/>
          <a:p>
            <a:pPr marL="0" indent="0" algn="l" rtl="0">
              <a:lnSpc>
                <a:spcPct val="100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flood missed of 78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24"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Objectives</a:t>
            </a:r>
          </a:p>
        </p:txBody>
      </p:sp>
      <p:sp>
        <p:nvSpPr>
          <p:cNvPr id="1048625"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lang="en"/>
          </a:p>
        </p:txBody>
      </p:sp>
      <p:sp>
        <p:nvSpPr>
          <p:cNvPr id="1048626" name="Rounded Rectangle 1048625"/>
          <p:cNvSpPr/>
          <p:nvPr/>
        </p:nvSpPr>
        <p:spPr>
          <a:xfrm>
            <a:off x="384048" y="1335024"/>
            <a:ext cx="4041648" cy="91440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27" name="Oval 1048626"/>
          <p:cNvSpPr/>
          <p:nvPr/>
        </p:nvSpPr>
        <p:spPr>
          <a:xfrm>
            <a:off x="530352" y="1609344"/>
            <a:ext cx="365760" cy="365760"/>
          </a:xfrm>
          <a:prstGeom prst="ellipse">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tIns="9144" rIns="9144" bIns="9144">
            <a:noAutofit/>
          </a:bodyPr>
          <a:lstStyle/>
          <a:p>
            <a:pPr marL="0" indent="0" algn="ctr" rtl="0">
              <a:lnSpc>
                <a:spcPct val="100000"/>
              </a:lnSpc>
              <a:spcBef>
                <a:spcPts val="0"/>
              </a:spcBef>
              <a:spcAft>
                <a:spcPts val="0"/>
              </a:spcAft>
              <a:buNone/>
            </a:pPr>
            <a:r>
              <a:rPr lang="en-US" sz="1100" b="1" i="0" dirty="0">
                <a:solidFill>
                  <a:srgbClr val="FFFFFF"/>
                </a:solidFill>
                <a:latin typeface="Verdana" pitchFamily="34" charset="0"/>
                <a:ea typeface="Verdana" pitchFamily="34" charset="0"/>
                <a:cs typeface="Verdana" pitchFamily="34" charset="0"/>
              </a:rPr>
              <a:t xml:space="preserve">1</a:t>
            </a:r>
          </a:p>
        </p:txBody>
      </p:sp>
      <p:sp>
        <p:nvSpPr>
          <p:cNvPr id="1048628" name="TextBox 1048627"/>
          <p:cNvSpPr txBox="1"/>
          <p:nvPr/>
        </p:nvSpPr>
        <p:spPr>
          <a:xfrm>
            <a:off x="987552" y="1399032"/>
            <a:ext cx="3291840" cy="786384"/>
          </a:xfrm>
          <a:prstGeom prst="rect">
            <a:avLst/>
          </a:prstGeom>
          <a:noFill/>
        </p:spPr>
        <p:txBody>
          <a:bodyPr wrap="square" anchor="ctr" lIns="54864" tIns="36576" rIns="54864" bIns="36576">
            <a:noAutofit/>
          </a:bodyPr>
          <a:lstStyle/>
          <a:p>
            <a:pPr marL="0" indent="0" algn="l" rtl="0">
              <a:lnSpc>
                <a:spcPct val="11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Build a flood / no-flood classifier for aerial images using MobileNetV2 transfer learning.</a:t>
            </a:r>
          </a:p>
        </p:txBody>
      </p:sp>
      <p:sp>
        <p:nvSpPr>
          <p:cNvPr id="1048629" name="Rounded Rectangle 1048628"/>
          <p:cNvSpPr/>
          <p:nvPr/>
        </p:nvSpPr>
        <p:spPr>
          <a:xfrm>
            <a:off x="4700016" y="1335024"/>
            <a:ext cx="4041648" cy="91440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0" name="Oval 1048629"/>
          <p:cNvSpPr/>
          <p:nvPr/>
        </p:nvSpPr>
        <p:spPr>
          <a:xfrm>
            <a:off x="4846320" y="1609344"/>
            <a:ext cx="365760" cy="365760"/>
          </a:xfrm>
          <a:prstGeom prst="ellipse">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tIns="9144" rIns="9144" bIns="9144">
            <a:noAutofit/>
          </a:bodyPr>
          <a:lstStyle/>
          <a:p>
            <a:pPr marL="0" indent="0" algn="ctr" rtl="0">
              <a:lnSpc>
                <a:spcPct val="100000"/>
              </a:lnSpc>
              <a:spcBef>
                <a:spcPts val="0"/>
              </a:spcBef>
              <a:spcAft>
                <a:spcPts val="0"/>
              </a:spcAft>
              <a:buNone/>
            </a:pPr>
            <a:r>
              <a:rPr lang="en-US" sz="1100" b="1" i="0" dirty="0">
                <a:solidFill>
                  <a:srgbClr val="FFFFFF"/>
                </a:solidFill>
                <a:latin typeface="Verdana" pitchFamily="34" charset="0"/>
                <a:ea typeface="Verdana" pitchFamily="34" charset="0"/>
                <a:cs typeface="Verdana" pitchFamily="34" charset="0"/>
              </a:rPr>
              <a:t xml:space="preserve">2</a:t>
            </a:r>
          </a:p>
        </p:txBody>
      </p:sp>
      <p:sp>
        <p:nvSpPr>
          <p:cNvPr id="1048631" name="TextBox 1048630"/>
          <p:cNvSpPr txBox="1"/>
          <p:nvPr/>
        </p:nvSpPr>
        <p:spPr>
          <a:xfrm>
            <a:off x="5303520" y="1399032"/>
            <a:ext cx="3291840" cy="786384"/>
          </a:xfrm>
          <a:prstGeom prst="rect">
            <a:avLst/>
          </a:prstGeom>
          <a:noFill/>
        </p:spPr>
        <p:txBody>
          <a:bodyPr wrap="square" anchor="ctr" lIns="54864" tIns="36576" rIns="54864" bIns="36576">
            <a:noAutofit/>
          </a:bodyPr>
          <a:lstStyle/>
          <a:p>
            <a:pPr marL="0" indent="0" algn="l" rtl="0">
              <a:lnSpc>
                <a:spcPct val="11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Audit the dataset for shortcuts, so accuracy measures flood content and not capture artefacts.</a:t>
            </a:r>
          </a:p>
        </p:txBody>
      </p:sp>
      <p:sp>
        <p:nvSpPr>
          <p:cNvPr id="1048632" name="Rounded Rectangle 1048631"/>
          <p:cNvSpPr/>
          <p:nvPr/>
        </p:nvSpPr>
        <p:spPr>
          <a:xfrm>
            <a:off x="384048" y="2377440"/>
            <a:ext cx="4041648" cy="91440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3" name="Oval 1048632"/>
          <p:cNvSpPr/>
          <p:nvPr/>
        </p:nvSpPr>
        <p:spPr>
          <a:xfrm>
            <a:off x="530352" y="2651760"/>
            <a:ext cx="365760" cy="365760"/>
          </a:xfrm>
          <a:prstGeom prst="ellipse">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tIns="9144" rIns="9144" bIns="9144">
            <a:noAutofit/>
          </a:bodyPr>
          <a:lstStyle/>
          <a:p>
            <a:pPr marL="0" indent="0" algn="ctr" rtl="0">
              <a:lnSpc>
                <a:spcPct val="100000"/>
              </a:lnSpc>
              <a:spcBef>
                <a:spcPts val="0"/>
              </a:spcBef>
              <a:spcAft>
                <a:spcPts val="0"/>
              </a:spcAft>
              <a:buNone/>
            </a:pPr>
            <a:r>
              <a:rPr lang="en-US" sz="1100" b="1" i="0" dirty="0">
                <a:solidFill>
                  <a:srgbClr val="FFFFFF"/>
                </a:solidFill>
                <a:latin typeface="Verdana" pitchFamily="34" charset="0"/>
                <a:ea typeface="Verdana" pitchFamily="34" charset="0"/>
                <a:cs typeface="Verdana" pitchFamily="34" charset="0"/>
              </a:rPr>
              <a:t xml:space="preserve">3</a:t>
            </a:r>
          </a:p>
        </p:txBody>
      </p:sp>
      <p:sp>
        <p:nvSpPr>
          <p:cNvPr id="1048634" name="TextBox 1048633"/>
          <p:cNvSpPr txBox="1"/>
          <p:nvPr/>
        </p:nvSpPr>
        <p:spPr>
          <a:xfrm>
            <a:off x="987552" y="2441448"/>
            <a:ext cx="3291840" cy="786384"/>
          </a:xfrm>
          <a:prstGeom prst="rect">
            <a:avLst/>
          </a:prstGeom>
          <a:noFill/>
        </p:spPr>
        <p:txBody>
          <a:bodyPr wrap="square" anchor="ctr" lIns="54864" tIns="36576" rIns="54864" bIns="36576">
            <a:noAutofit/>
          </a:bodyPr>
          <a:lstStyle/>
          <a:p>
            <a:pPr marL="0" indent="0" algn="l" rtl="0">
              <a:lnSpc>
                <a:spcPct val="11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Compare a frozen feature extractor against a fine-tuned backbone over three random seeds.</a:t>
            </a:r>
          </a:p>
        </p:txBody>
      </p:sp>
      <p:sp>
        <p:nvSpPr>
          <p:cNvPr id="1048635" name="Rounded Rectangle 1048634"/>
          <p:cNvSpPr/>
          <p:nvPr/>
        </p:nvSpPr>
        <p:spPr>
          <a:xfrm>
            <a:off x="4700016" y="2377440"/>
            <a:ext cx="4041648" cy="91440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6" name="Oval 1048635"/>
          <p:cNvSpPr/>
          <p:nvPr/>
        </p:nvSpPr>
        <p:spPr>
          <a:xfrm>
            <a:off x="4846320" y="2651760"/>
            <a:ext cx="365760" cy="365760"/>
          </a:xfrm>
          <a:prstGeom prst="ellipse">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tIns="9144" rIns="9144" bIns="9144">
            <a:noAutofit/>
          </a:bodyPr>
          <a:lstStyle/>
          <a:p>
            <a:pPr marL="0" indent="0" algn="ctr" rtl="0">
              <a:lnSpc>
                <a:spcPct val="100000"/>
              </a:lnSpc>
              <a:spcBef>
                <a:spcPts val="0"/>
              </a:spcBef>
              <a:spcAft>
                <a:spcPts val="0"/>
              </a:spcAft>
              <a:buNone/>
            </a:pPr>
            <a:r>
              <a:rPr lang="en-US" sz="1100" b="1" i="0" dirty="0">
                <a:solidFill>
                  <a:srgbClr val="FFFFFF"/>
                </a:solidFill>
                <a:latin typeface="Verdana" pitchFamily="34" charset="0"/>
                <a:ea typeface="Verdana" pitchFamily="34" charset="0"/>
                <a:cs typeface="Verdana" pitchFamily="34" charset="0"/>
              </a:rPr>
              <a:t xml:space="preserve">4</a:t>
            </a:r>
          </a:p>
        </p:txBody>
      </p:sp>
      <p:sp>
        <p:nvSpPr>
          <p:cNvPr id="1048637" name="TextBox 1048636"/>
          <p:cNvSpPr txBox="1"/>
          <p:nvPr/>
        </p:nvSpPr>
        <p:spPr>
          <a:xfrm>
            <a:off x="5303520" y="2441448"/>
            <a:ext cx="3291840" cy="786384"/>
          </a:xfrm>
          <a:prstGeom prst="rect">
            <a:avLst/>
          </a:prstGeom>
          <a:noFill/>
        </p:spPr>
        <p:txBody>
          <a:bodyPr wrap="square" anchor="ctr" lIns="54864" tIns="36576" rIns="54864" bIns="36576">
            <a:noAutofit/>
          </a:bodyPr>
          <a:lstStyle/>
          <a:p>
            <a:pPr marL="0" indent="0" algn="l" rtl="0">
              <a:lnSpc>
                <a:spcPct val="11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Tune the decision threshold on validation data under a precision floor of 0.85.</a:t>
            </a:r>
          </a:p>
        </p:txBody>
      </p:sp>
      <p:sp>
        <p:nvSpPr>
          <p:cNvPr id="1048638" name="Rounded Rectangle 1048637"/>
          <p:cNvSpPr/>
          <p:nvPr/>
        </p:nvSpPr>
        <p:spPr>
          <a:xfrm>
            <a:off x="384048" y="3419856"/>
            <a:ext cx="4041648" cy="91440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9" name="Oval 1048638"/>
          <p:cNvSpPr/>
          <p:nvPr/>
        </p:nvSpPr>
        <p:spPr>
          <a:xfrm>
            <a:off x="530352" y="3694176"/>
            <a:ext cx="365760" cy="365760"/>
          </a:xfrm>
          <a:prstGeom prst="ellipse">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tIns="9144" rIns="9144" bIns="9144">
            <a:noAutofit/>
          </a:bodyPr>
          <a:lstStyle/>
          <a:p>
            <a:pPr marL="0" indent="0" algn="ctr" rtl="0">
              <a:lnSpc>
                <a:spcPct val="100000"/>
              </a:lnSpc>
              <a:spcBef>
                <a:spcPts val="0"/>
              </a:spcBef>
              <a:spcAft>
                <a:spcPts val="0"/>
              </a:spcAft>
              <a:buNone/>
            </a:pPr>
            <a:r>
              <a:rPr lang="en-US" sz="1100" b="1" i="0" dirty="0">
                <a:solidFill>
                  <a:srgbClr val="FFFFFF"/>
                </a:solidFill>
                <a:latin typeface="Verdana" pitchFamily="34" charset="0"/>
                <a:ea typeface="Verdana" pitchFamily="34" charset="0"/>
                <a:cs typeface="Verdana" pitchFamily="34" charset="0"/>
              </a:rPr>
              <a:t xml:space="preserve">5</a:t>
            </a:r>
          </a:p>
        </p:txBody>
      </p:sp>
      <p:sp>
        <p:nvSpPr>
          <p:cNvPr id="1048640" name="TextBox 1048639"/>
          <p:cNvSpPr txBox="1"/>
          <p:nvPr/>
        </p:nvSpPr>
        <p:spPr>
          <a:xfrm>
            <a:off x="987552" y="3483864"/>
            <a:ext cx="3291840" cy="786384"/>
          </a:xfrm>
          <a:prstGeom prst="rect">
            <a:avLst/>
          </a:prstGeom>
          <a:noFill/>
        </p:spPr>
        <p:txBody>
          <a:bodyPr wrap="square" anchor="ctr" lIns="54864" tIns="36576" rIns="54864" bIns="36576">
            <a:noAutofit/>
          </a:bodyPr>
          <a:lstStyle/>
          <a:p>
            <a:pPr marL="0" indent="0" algn="l" rtl="0">
              <a:lnSpc>
                <a:spcPct val="11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Explain every prediction with Grad-CAM and verify it with a size-controlled deletion test.</a:t>
            </a:r>
          </a:p>
        </p:txBody>
      </p:sp>
      <p:sp>
        <p:nvSpPr>
          <p:cNvPr id="1048641" name="Rounded Rectangle 1048640"/>
          <p:cNvSpPr/>
          <p:nvPr/>
        </p:nvSpPr>
        <p:spPr>
          <a:xfrm>
            <a:off x="4700016" y="3419856"/>
            <a:ext cx="4041648" cy="91440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42" name="Oval 1048641"/>
          <p:cNvSpPr/>
          <p:nvPr/>
        </p:nvSpPr>
        <p:spPr>
          <a:xfrm>
            <a:off x="4846320" y="3694176"/>
            <a:ext cx="365760" cy="365760"/>
          </a:xfrm>
          <a:prstGeom prst="ellipse">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tIns="9144" rIns="9144" bIns="9144">
            <a:noAutofit/>
          </a:bodyPr>
          <a:lstStyle/>
          <a:p>
            <a:pPr marL="0" indent="0" algn="ctr" rtl="0">
              <a:lnSpc>
                <a:spcPct val="100000"/>
              </a:lnSpc>
              <a:spcBef>
                <a:spcPts val="0"/>
              </a:spcBef>
              <a:spcAft>
                <a:spcPts val="0"/>
              </a:spcAft>
              <a:buNone/>
            </a:pPr>
            <a:r>
              <a:rPr lang="en-US" sz="1100" b="1" i="0" dirty="0">
                <a:solidFill>
                  <a:srgbClr val="FFFFFF"/>
                </a:solidFill>
                <a:latin typeface="Verdana" pitchFamily="34" charset="0"/>
                <a:ea typeface="Verdana" pitchFamily="34" charset="0"/>
                <a:cs typeface="Verdana" pitchFamily="34" charset="0"/>
              </a:rPr>
              <a:t xml:space="preserve">6</a:t>
            </a:r>
          </a:p>
        </p:txBody>
      </p:sp>
      <p:sp>
        <p:nvSpPr>
          <p:cNvPr id="1048643" name="TextBox 1048642"/>
          <p:cNvSpPr txBox="1"/>
          <p:nvPr/>
        </p:nvSpPr>
        <p:spPr>
          <a:xfrm>
            <a:off x="5303520" y="3483864"/>
            <a:ext cx="3291840" cy="786384"/>
          </a:xfrm>
          <a:prstGeom prst="rect">
            <a:avLst/>
          </a:prstGeom>
          <a:noFill/>
        </p:spPr>
        <p:txBody>
          <a:bodyPr wrap="square" anchor="ctr" lIns="54864" tIns="36576" rIns="54864" bIns="36576">
            <a:noAutofit/>
          </a:bodyPr>
          <a:lstStyle/>
          <a:p>
            <a:pPr marL="0" indent="0" algn="l" rtl="0">
              <a:lnSpc>
                <a:spcPct val="115000"/>
              </a:lnSpc>
              <a:spcBef>
                <a:spcPts val="0"/>
              </a:spcBef>
              <a:spcAft>
                <a:spcPts val="0"/>
              </a:spcAft>
              <a:buNone/>
            </a:pPr>
            <a:r>
              <a:rPr lang="en-US" sz="1200" b="0" i="0" dirty="0">
                <a:solidFill>
                  <a:srgbClr val="263248"/>
                </a:solidFill>
                <a:latin typeface="Verdana" pitchFamily="34" charset="0"/>
                <a:ea typeface="Verdana" pitchFamily="34" charset="0"/>
                <a:cs typeface="Verdana" pitchFamily="34" charset="0"/>
              </a:rPr>
              <a:t xml:space="preserve">Deploy the model as a Streamlit application and export TFLite builds for edge devices.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29"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Requirement Specification</a:t>
            </a:r>
          </a:p>
        </p:txBody>
      </p:sp>
      <p:sp>
        <p:nvSpPr>
          <p:cNvPr id="1048630"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lang="en"/>
          </a:p>
        </p:txBody>
      </p:sp>
      <p:sp>
        <p:nvSpPr>
          <p:cNvPr id="1048631" name="Rounded Rectangle 1048630"/>
          <p:cNvSpPr/>
          <p:nvPr/>
        </p:nvSpPr>
        <p:spPr>
          <a:xfrm>
            <a:off x="384048" y="1298448"/>
            <a:ext cx="2743200" cy="1783080"/>
          </a:xfrm>
          <a:prstGeom prst="roundRect">
            <a:avLst>
              <a:gd name="adj" fmla="val 800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2" name="Rounded Rectangle 1048631"/>
          <p:cNvSpPr/>
          <p:nvPr/>
        </p:nvSpPr>
        <p:spPr>
          <a:xfrm>
            <a:off x="384048" y="1298448"/>
            <a:ext cx="2743200" cy="384048"/>
          </a:xfrm>
          <a:prstGeom prst="roundRect">
            <a:avLst>
              <a:gd name="adj" fmla="val 1400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marL="0" indent="0" algn="ctr" rtl="0">
              <a:lnSpc>
                <a:spcPct val="100000"/>
              </a:lnSpc>
              <a:spcBef>
                <a:spcPts val="0"/>
              </a:spcBef>
              <a:spcAft>
                <a:spcPts val="0"/>
              </a:spcAft>
              <a:buNone/>
            </a:pPr>
            <a:r>
              <a:rPr lang="en-US" sz="1000" b="1" i="0" dirty="0">
                <a:solidFill>
                  <a:srgbClr val="FFFFFF"/>
                </a:solidFill>
                <a:latin typeface="Verdana" pitchFamily="34" charset="0"/>
                <a:ea typeface="Verdana" pitchFamily="34" charset="0"/>
                <a:cs typeface="Verdana" pitchFamily="34" charset="0"/>
              </a:rPr>
              <a:t xml:space="preserve">HARDWARE</a:t>
            </a:r>
          </a:p>
        </p:txBody>
      </p:sp>
      <p:sp>
        <p:nvSpPr>
          <p:cNvPr id="1048633" name="TextBox 1048632"/>
          <p:cNvSpPr txBox="1"/>
          <p:nvPr/>
        </p:nvSpPr>
        <p:spPr>
          <a:xfrm>
            <a:off x="512064" y="1773936"/>
            <a:ext cx="2487168" cy="1197864"/>
          </a:xfrm>
          <a:prstGeom prst="rect">
            <a:avLst/>
          </a:prstGeom>
          <a:noFill/>
        </p:spPr>
        <p:txBody>
          <a:bodyPr wrap="square" anchor="t" lIns="54864" tIns="36576" rIns="54864" bIns="36576">
            <a:noAutofit/>
          </a:bodyPr>
          <a:lstStyle/>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Apple silicon M-series or x86-64 CPU (built on Apple M4)</a:t>
            </a:r>
          </a:p>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8 GB RAM minimum, 16 GB recommended</a:t>
            </a:r>
          </a:p>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5 GB free storage; GPU optional (Metal)</a:t>
            </a:r>
          </a:p>
        </p:txBody>
      </p:sp>
      <p:sp>
        <p:nvSpPr>
          <p:cNvPr id="1048634" name="Rounded Rectangle 1048633"/>
          <p:cNvSpPr/>
          <p:nvPr/>
        </p:nvSpPr>
        <p:spPr>
          <a:xfrm>
            <a:off x="3310128" y="1298448"/>
            <a:ext cx="2743200" cy="1783080"/>
          </a:xfrm>
          <a:prstGeom prst="roundRect">
            <a:avLst>
              <a:gd name="adj" fmla="val 800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5" name="Rounded Rectangle 1048634"/>
          <p:cNvSpPr/>
          <p:nvPr/>
        </p:nvSpPr>
        <p:spPr>
          <a:xfrm>
            <a:off x="3310128" y="1298448"/>
            <a:ext cx="2743200" cy="384048"/>
          </a:xfrm>
          <a:prstGeom prst="roundRect">
            <a:avLst>
              <a:gd name="adj" fmla="val 1400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marL="0" indent="0" algn="ctr" rtl="0">
              <a:lnSpc>
                <a:spcPct val="100000"/>
              </a:lnSpc>
              <a:spcBef>
                <a:spcPts val="0"/>
              </a:spcBef>
              <a:spcAft>
                <a:spcPts val="0"/>
              </a:spcAft>
              <a:buNone/>
            </a:pPr>
            <a:r>
              <a:rPr lang="en-US" sz="1000" b="1" i="0" dirty="0">
                <a:solidFill>
                  <a:srgbClr val="FFFFFF"/>
                </a:solidFill>
                <a:latin typeface="Verdana" pitchFamily="34" charset="0"/>
                <a:ea typeface="Verdana" pitchFamily="34" charset="0"/>
                <a:cs typeface="Verdana" pitchFamily="34" charset="0"/>
              </a:rPr>
              <a:t xml:space="preserve">SOFTWARE</a:t>
            </a:r>
          </a:p>
        </p:txBody>
      </p:sp>
      <p:sp>
        <p:nvSpPr>
          <p:cNvPr id="1048636" name="TextBox 1048635"/>
          <p:cNvSpPr txBox="1"/>
          <p:nvPr/>
        </p:nvSpPr>
        <p:spPr>
          <a:xfrm>
            <a:off x="3438144" y="1773936"/>
            <a:ext cx="2487168" cy="1197864"/>
          </a:xfrm>
          <a:prstGeom prst="rect">
            <a:avLst/>
          </a:prstGeom>
          <a:noFill/>
        </p:spPr>
        <p:txBody>
          <a:bodyPr wrap="square" anchor="t" lIns="54864" tIns="36576" rIns="54864" bIns="36576">
            <a:noAutofit/>
          </a:bodyPr>
          <a:lstStyle/>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Python 3.11, TensorFlow 2.16.2, Keras 3.15.1</a:t>
            </a:r>
          </a:p>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tensorflow-metal 1.2.0, NumPy, scikit-learn, OpenCV</a:t>
            </a:r>
          </a:p>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Streamlit 1.60 demo app, TFLite runtime</a:t>
            </a:r>
          </a:p>
        </p:txBody>
      </p:sp>
      <p:sp>
        <p:nvSpPr>
          <p:cNvPr id="1048637" name="Rounded Rectangle 1048636"/>
          <p:cNvSpPr/>
          <p:nvPr/>
        </p:nvSpPr>
        <p:spPr>
          <a:xfrm>
            <a:off x="6236208" y="1298448"/>
            <a:ext cx="2523744" cy="1783080"/>
          </a:xfrm>
          <a:prstGeom prst="roundRect">
            <a:avLst>
              <a:gd name="adj" fmla="val 800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38" name="Rounded Rectangle 1048637"/>
          <p:cNvSpPr/>
          <p:nvPr/>
        </p:nvSpPr>
        <p:spPr>
          <a:xfrm>
            <a:off x="6236208" y="1298448"/>
            <a:ext cx="2523744" cy="384048"/>
          </a:xfrm>
          <a:prstGeom prst="roundRect">
            <a:avLst>
              <a:gd name="adj" fmla="val 1400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marL="0" indent="0" algn="ctr" rtl="0">
              <a:lnSpc>
                <a:spcPct val="100000"/>
              </a:lnSpc>
              <a:spcBef>
                <a:spcPts val="0"/>
              </a:spcBef>
              <a:spcAft>
                <a:spcPts val="0"/>
              </a:spcAft>
              <a:buNone/>
            </a:pPr>
            <a:r>
              <a:rPr lang="en-US" sz="1000" b="1" i="0" dirty="0">
                <a:solidFill>
                  <a:srgbClr val="FFFFFF"/>
                </a:solidFill>
                <a:latin typeface="Verdana" pitchFamily="34" charset="0"/>
                <a:ea typeface="Verdana" pitchFamily="34" charset="0"/>
                <a:cs typeface="Verdana" pitchFamily="34" charset="0"/>
              </a:rPr>
              <a:t xml:space="preserve">DATASET</a:t>
            </a:r>
          </a:p>
        </p:txBody>
      </p:sp>
      <p:sp>
        <p:nvSpPr>
          <p:cNvPr id="1048639" name="TextBox 1048638"/>
          <p:cNvSpPr txBox="1"/>
          <p:nvPr/>
        </p:nvSpPr>
        <p:spPr>
          <a:xfrm>
            <a:off x="6364224" y="1773936"/>
            <a:ext cx="2267711" cy="1197864"/>
          </a:xfrm>
          <a:prstGeom prst="rect">
            <a:avLst/>
          </a:prstGeom>
          <a:noFill/>
        </p:spPr>
        <p:txBody>
          <a:bodyPr wrap="square" anchor="t" lIns="54864" tIns="36576" rIns="54864" bIns="36576">
            <a:noAutofit/>
          </a:bodyPr>
          <a:lstStyle/>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AIDER aerial dataset, CC BY 4.0 (Zenodo)</a:t>
            </a:r>
          </a:p>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flooded_areas → flood, normal → no_flood</a:t>
            </a:r>
          </a:p>
          <a:p>
            <a:pPr marL="152400" indent="-152400" algn="l" rtl="0">
              <a:lnSpc>
                <a:spcPct val="112000"/>
              </a:lnSpc>
              <a:spcBef>
                <a:spcPts val="0"/>
              </a:spcBef>
              <a:spcAft>
                <a:spcPts val="200"/>
              </a:spcAft>
              <a:buNone/>
            </a:pPr>
            <a:r>
              <a:rPr lang="en-US" sz="1000" b="0" i="0" dirty="0">
                <a:solidFill>
                  <a:srgbClr val="92A8C8"/>
                </a:solidFill>
                <a:latin typeface="Verdana" pitchFamily="34" charset="0"/>
                <a:ea typeface="Verdana" pitchFamily="34" charset="0"/>
                <a:cs typeface="Verdana" pitchFamily="34" charset="0"/>
              </a:rPr>
              <a:t xml:space="preserve">▪  </a:t>
            </a:r>
            <a:r>
              <a:rPr lang="en-US" sz="1000" b="0" i="0" dirty="0">
                <a:solidFill>
                  <a:srgbClr val="263248"/>
                </a:solidFill>
                <a:latin typeface="Verdana" pitchFamily="34" charset="0"/>
                <a:ea typeface="Verdana" pitchFamily="34" charset="0"/>
                <a:cs typeface="Verdana" pitchFamily="34" charset="0"/>
              </a:rPr>
              <a:t xml:space="preserve">224 × 224 RGB, de-duplicated</a:t>
            </a:r>
          </a:p>
        </p:txBody>
      </p:sp>
      <p:sp>
        <p:nvSpPr>
          <p:cNvPr id="1048640" name="Rounded Rectangle 1048639"/>
          <p:cNvSpPr/>
          <p:nvPr/>
        </p:nvSpPr>
        <p:spPr>
          <a:xfrm>
            <a:off x="384048" y="3218688"/>
            <a:ext cx="8375904" cy="128016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41" name="TextBox 1048640"/>
          <p:cNvSpPr txBox="1"/>
          <p:nvPr/>
        </p:nvSpPr>
        <p:spPr>
          <a:xfrm>
            <a:off x="566928" y="3291840"/>
            <a:ext cx="2103120" cy="1133856"/>
          </a:xfrm>
          <a:prstGeom prst="rect">
            <a:avLst/>
          </a:prstGeom>
          <a:noFill/>
        </p:spPr>
        <p:txBody>
          <a:bodyPr wrap="square" anchor="ctr" lIns="54864" tIns="36576" rIns="54864" bIns="36576">
            <a:noAutofit/>
          </a:bodyPr>
          <a:lstStyle/>
          <a:p>
            <a:pPr marL="0" indent="0" algn="l" rtl="0">
              <a:lnSpc>
                <a:spcPct val="100000"/>
              </a:lnSpc>
              <a:spcBef>
                <a:spcPts val="0"/>
              </a:spcBef>
              <a:spcAft>
                <a:spcPts val="200"/>
              </a:spcAft>
              <a:buNone/>
            </a:pPr>
            <a:r>
              <a:rPr lang="en-US" sz="950" b="1" i="0" dirty="0">
                <a:solidFill>
                  <a:srgbClr val="3F5378"/>
                </a:solidFill>
                <a:latin typeface="Verdana" pitchFamily="34" charset="0"/>
                <a:ea typeface="Verdana" pitchFamily="34" charset="0"/>
                <a:cs typeface="Verdana" pitchFamily="34" charset="0"/>
              </a:rPr>
              <a:t xml:space="preserve">DATA SPLIT</a:t>
            </a:r>
          </a:p>
          <a:p>
            <a:pPr marL="0" indent="0" algn="l" rtl="0">
              <a:lnSpc>
                <a:spcPct val="115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Stratified 70 / 15 / 15 per class, after removing 200 near-duplicates</a:t>
            </a:r>
          </a:p>
        </p:txBody>
      </p:sp>
      <p:sp>
        <p:nvSpPr>
          <p:cNvPr id="1048642" name="Rounded Rectangle 1048641"/>
          <p:cNvSpPr/>
          <p:nvPr/>
        </p:nvSpPr>
        <p:spPr>
          <a:xfrm>
            <a:off x="2788920" y="3310128"/>
            <a:ext cx="137160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noAutofit/>
          </a:bodyPr>
          <a:lstStyle/>
          <a:p>
            <a:pPr marL="0" indent="0" algn="ctr" rtl="0">
              <a:lnSpc>
                <a:spcPct val="100000"/>
              </a:lnSpc>
              <a:spcBef>
                <a:spcPts val="0"/>
              </a:spcBef>
              <a:spcAft>
                <a:spcPts val="0"/>
              </a:spcAft>
              <a:buNone/>
            </a:pPr>
            <a:r>
              <a:rPr lang="en-US" sz="850" b="1" i="0" dirty="0">
                <a:solidFill>
                  <a:srgbClr val="FFFFFF"/>
                </a:solidFill>
                <a:latin typeface="Verdana" pitchFamily="34" charset="0"/>
                <a:ea typeface="Verdana" pitchFamily="34" charset="0"/>
                <a:cs typeface="Verdana" pitchFamily="34" charset="0"/>
              </a:rPr>
              <a:t xml:space="preserve">Split</a:t>
            </a:r>
          </a:p>
        </p:txBody>
      </p:sp>
      <p:sp>
        <p:nvSpPr>
          <p:cNvPr id="1048643" name="TextBox 1048642"/>
          <p:cNvSpPr txBox="1"/>
          <p:nvPr/>
        </p:nvSpPr>
        <p:spPr>
          <a:xfrm>
            <a:off x="2788920" y="3593592"/>
            <a:ext cx="137160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1" i="0" dirty="0">
                <a:solidFill>
                  <a:srgbClr val="263248"/>
                </a:solidFill>
                <a:latin typeface="Verdana" pitchFamily="34" charset="0"/>
                <a:ea typeface="Verdana" pitchFamily="34" charset="0"/>
                <a:cs typeface="Verdana" pitchFamily="34" charset="0"/>
              </a:rPr>
              <a:t xml:space="preserve">Train</a:t>
            </a:r>
          </a:p>
        </p:txBody>
      </p:sp>
      <p:sp>
        <p:nvSpPr>
          <p:cNvPr id="1048644" name="TextBox 1048643"/>
          <p:cNvSpPr txBox="1"/>
          <p:nvPr/>
        </p:nvSpPr>
        <p:spPr>
          <a:xfrm>
            <a:off x="2788920" y="3877056"/>
            <a:ext cx="137160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1" i="0" dirty="0">
                <a:solidFill>
                  <a:srgbClr val="263248"/>
                </a:solidFill>
                <a:latin typeface="Verdana" pitchFamily="34" charset="0"/>
                <a:ea typeface="Verdana" pitchFamily="34" charset="0"/>
                <a:cs typeface="Verdana" pitchFamily="34" charset="0"/>
              </a:rPr>
              <a:t xml:space="preserve">Validation</a:t>
            </a:r>
          </a:p>
        </p:txBody>
      </p:sp>
      <p:sp>
        <p:nvSpPr>
          <p:cNvPr id="1048645" name="TextBox 1048644"/>
          <p:cNvSpPr txBox="1"/>
          <p:nvPr/>
        </p:nvSpPr>
        <p:spPr>
          <a:xfrm>
            <a:off x="2788920" y="4160520"/>
            <a:ext cx="137160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1" i="0" dirty="0">
                <a:solidFill>
                  <a:srgbClr val="263248"/>
                </a:solidFill>
                <a:latin typeface="Verdana" pitchFamily="34" charset="0"/>
                <a:ea typeface="Verdana" pitchFamily="34" charset="0"/>
                <a:cs typeface="Verdana" pitchFamily="34" charset="0"/>
              </a:rPr>
              <a:t xml:space="preserve">Test</a:t>
            </a:r>
          </a:p>
        </p:txBody>
      </p:sp>
      <p:sp>
        <p:nvSpPr>
          <p:cNvPr id="1048646" name="Rounded Rectangle 1048645"/>
          <p:cNvSpPr/>
          <p:nvPr/>
        </p:nvSpPr>
        <p:spPr>
          <a:xfrm>
            <a:off x="4160520" y="3310128"/>
            <a:ext cx="13258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noAutofit/>
          </a:bodyPr>
          <a:lstStyle/>
          <a:p>
            <a:pPr marL="0" indent="0" algn="ctr" rtl="0">
              <a:lnSpc>
                <a:spcPct val="100000"/>
              </a:lnSpc>
              <a:spcBef>
                <a:spcPts val="0"/>
              </a:spcBef>
              <a:spcAft>
                <a:spcPts val="0"/>
              </a:spcAft>
              <a:buNone/>
            </a:pPr>
            <a:r>
              <a:rPr lang="en-US" sz="850" b="1" i="0" dirty="0">
                <a:solidFill>
                  <a:srgbClr val="FFFFFF"/>
                </a:solidFill>
                <a:latin typeface="Verdana" pitchFamily="34" charset="0"/>
                <a:ea typeface="Verdana" pitchFamily="34" charset="0"/>
                <a:cs typeface="Verdana" pitchFamily="34" charset="0"/>
              </a:rPr>
              <a:t xml:space="preserve">no_flood</a:t>
            </a:r>
          </a:p>
        </p:txBody>
      </p:sp>
      <p:sp>
        <p:nvSpPr>
          <p:cNvPr id="1048647" name="TextBox 1048646"/>
          <p:cNvSpPr txBox="1"/>
          <p:nvPr/>
        </p:nvSpPr>
        <p:spPr>
          <a:xfrm>
            <a:off x="4160520" y="3593592"/>
            <a:ext cx="13258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700</a:t>
            </a:r>
          </a:p>
        </p:txBody>
      </p:sp>
      <p:sp>
        <p:nvSpPr>
          <p:cNvPr id="1048648" name="TextBox 1048647"/>
          <p:cNvSpPr txBox="1"/>
          <p:nvPr/>
        </p:nvSpPr>
        <p:spPr>
          <a:xfrm>
            <a:off x="4160520" y="3877056"/>
            <a:ext cx="13258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150</a:t>
            </a:r>
          </a:p>
        </p:txBody>
      </p:sp>
      <p:sp>
        <p:nvSpPr>
          <p:cNvPr id="1048649" name="TextBox 1048648"/>
          <p:cNvSpPr txBox="1"/>
          <p:nvPr/>
        </p:nvSpPr>
        <p:spPr>
          <a:xfrm>
            <a:off x="4160520" y="4160520"/>
            <a:ext cx="13258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150</a:t>
            </a:r>
          </a:p>
        </p:txBody>
      </p:sp>
      <p:sp>
        <p:nvSpPr>
          <p:cNvPr id="1048650" name="Rounded Rectangle 1048649"/>
          <p:cNvSpPr/>
          <p:nvPr/>
        </p:nvSpPr>
        <p:spPr>
          <a:xfrm>
            <a:off x="5486400" y="3310128"/>
            <a:ext cx="10972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noAutofit/>
          </a:bodyPr>
          <a:lstStyle/>
          <a:p>
            <a:pPr marL="0" indent="0" algn="ctr" rtl="0">
              <a:lnSpc>
                <a:spcPct val="100000"/>
              </a:lnSpc>
              <a:spcBef>
                <a:spcPts val="0"/>
              </a:spcBef>
              <a:spcAft>
                <a:spcPts val="0"/>
              </a:spcAft>
              <a:buNone/>
            </a:pPr>
            <a:r>
              <a:rPr lang="en-US" sz="850" b="1" i="0" dirty="0">
                <a:solidFill>
                  <a:srgbClr val="FFFFFF"/>
                </a:solidFill>
                <a:latin typeface="Verdana" pitchFamily="34" charset="0"/>
                <a:ea typeface="Verdana" pitchFamily="34" charset="0"/>
                <a:cs typeface="Verdana" pitchFamily="34" charset="0"/>
              </a:rPr>
              <a:t xml:space="preserve">flood</a:t>
            </a:r>
          </a:p>
        </p:txBody>
      </p:sp>
      <p:sp>
        <p:nvSpPr>
          <p:cNvPr id="1048651" name="TextBox 1048650"/>
          <p:cNvSpPr txBox="1"/>
          <p:nvPr/>
        </p:nvSpPr>
        <p:spPr>
          <a:xfrm>
            <a:off x="5486400" y="3593592"/>
            <a:ext cx="10972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368</a:t>
            </a:r>
          </a:p>
        </p:txBody>
      </p:sp>
      <p:sp>
        <p:nvSpPr>
          <p:cNvPr id="1048652" name="TextBox 1048651"/>
          <p:cNvSpPr txBox="1"/>
          <p:nvPr/>
        </p:nvSpPr>
        <p:spPr>
          <a:xfrm>
            <a:off x="5486400" y="3877056"/>
            <a:ext cx="10972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79</a:t>
            </a:r>
          </a:p>
        </p:txBody>
      </p:sp>
      <p:sp>
        <p:nvSpPr>
          <p:cNvPr id="1048653" name="TextBox 1048652"/>
          <p:cNvSpPr txBox="1"/>
          <p:nvPr/>
        </p:nvSpPr>
        <p:spPr>
          <a:xfrm>
            <a:off x="5486400" y="4160520"/>
            <a:ext cx="10972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78</a:t>
            </a:r>
          </a:p>
        </p:txBody>
      </p:sp>
      <p:sp>
        <p:nvSpPr>
          <p:cNvPr id="1048654" name="Rounded Rectangle 1048653"/>
          <p:cNvSpPr/>
          <p:nvPr/>
        </p:nvSpPr>
        <p:spPr>
          <a:xfrm>
            <a:off x="6583680" y="3310128"/>
            <a:ext cx="10972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noAutofit/>
          </a:bodyPr>
          <a:lstStyle/>
          <a:p>
            <a:pPr marL="0" indent="0" algn="ctr" rtl="0">
              <a:lnSpc>
                <a:spcPct val="100000"/>
              </a:lnSpc>
              <a:spcBef>
                <a:spcPts val="0"/>
              </a:spcBef>
              <a:spcAft>
                <a:spcPts val="0"/>
              </a:spcAft>
              <a:buNone/>
            </a:pPr>
            <a:r>
              <a:rPr lang="en-US" sz="850" b="1" i="0" dirty="0">
                <a:solidFill>
                  <a:srgbClr val="FFFFFF"/>
                </a:solidFill>
                <a:latin typeface="Verdana" pitchFamily="34" charset="0"/>
                <a:ea typeface="Verdana" pitchFamily="34" charset="0"/>
                <a:cs typeface="Verdana" pitchFamily="34" charset="0"/>
              </a:rPr>
              <a:t xml:space="preserve">Total</a:t>
            </a:r>
          </a:p>
        </p:txBody>
      </p:sp>
      <p:sp>
        <p:nvSpPr>
          <p:cNvPr id="1048655" name="TextBox 1048654"/>
          <p:cNvSpPr txBox="1"/>
          <p:nvPr/>
        </p:nvSpPr>
        <p:spPr>
          <a:xfrm>
            <a:off x="6583680" y="3593592"/>
            <a:ext cx="10972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1,068</a:t>
            </a:r>
          </a:p>
        </p:txBody>
      </p:sp>
      <p:sp>
        <p:nvSpPr>
          <p:cNvPr id="1048656" name="TextBox 1048655"/>
          <p:cNvSpPr txBox="1"/>
          <p:nvPr/>
        </p:nvSpPr>
        <p:spPr>
          <a:xfrm>
            <a:off x="6583680" y="3877056"/>
            <a:ext cx="10972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229</a:t>
            </a:r>
          </a:p>
        </p:txBody>
      </p:sp>
      <p:sp>
        <p:nvSpPr>
          <p:cNvPr id="1048657" name="TextBox 1048656"/>
          <p:cNvSpPr txBox="1"/>
          <p:nvPr/>
        </p:nvSpPr>
        <p:spPr>
          <a:xfrm>
            <a:off x="6583680" y="4160520"/>
            <a:ext cx="1097280" cy="274320"/>
          </a:xfrm>
          <a:prstGeom prst="rect">
            <a:avLst/>
          </a:prstGeom>
          <a:noFill/>
        </p:spPr>
        <p:txBody>
          <a:bodyPr wrap="square" anchor="ctr" lIns="54864" tIns="36576" rIns="54864" bIns="36576">
            <a:noAutofit/>
          </a:bodyPr>
          <a:lstStyle/>
          <a:p>
            <a:pPr marL="0" indent="0" algn="ctr" rtl="0">
              <a:lnSpc>
                <a:spcPct val="100000"/>
              </a:lnSpc>
              <a:spcBef>
                <a:spcPts val="0"/>
              </a:spcBef>
              <a:spcAft>
                <a:spcPts val="0"/>
              </a:spcAft>
              <a:buNone/>
            </a:pPr>
            <a:r>
              <a:rPr lang="en-US" sz="900" b="0" i="0" dirty="0">
                <a:solidFill>
                  <a:srgbClr val="263248"/>
                </a:solidFill>
                <a:latin typeface="Verdana" pitchFamily="34" charset="0"/>
                <a:ea typeface="Verdana" pitchFamily="34" charset="0"/>
                <a:cs typeface="Verdana" pitchFamily="34" charset="0"/>
              </a:rPr>
              <a:t xml:space="preserve">228</a:t>
            </a:r>
          </a:p>
        </p:txBody>
      </p:sp>
      <p:sp>
        <p:nvSpPr>
          <p:cNvPr id="1048658" name="TextBox 1048657"/>
          <p:cNvSpPr txBox="1"/>
          <p:nvPr/>
        </p:nvSpPr>
        <p:spPr>
          <a:xfrm>
            <a:off x="7726679" y="3291840"/>
            <a:ext cx="914400" cy="1133856"/>
          </a:xfrm>
          <a:prstGeom prst="rect">
            <a:avLst/>
          </a:prstGeom>
          <a:noFill/>
        </p:spPr>
        <p:txBody>
          <a:bodyPr wrap="square" anchor="ctr" lIns="54864" tIns="36576" rIns="54864" bIns="36576">
            <a:noAutofit/>
          </a:bodyPr>
          <a:lstStyle/>
          <a:p>
            <a:pPr marL="0" indent="0" algn="ctr" rtl="0">
              <a:lnSpc>
                <a:spcPct val="100000"/>
              </a:lnSpc>
              <a:spcBef>
                <a:spcPts val="0"/>
              </a:spcBef>
              <a:spcAft>
                <a:spcPts val="120"/>
              </a:spcAft>
              <a:buNone/>
            </a:pPr>
            <a:r>
              <a:rPr lang="en-US" sz="1500" b="1" i="0" dirty="0">
                <a:solidFill>
                  <a:srgbClr val="D26F00"/>
                </a:solidFill>
                <a:latin typeface="Verdana" pitchFamily="34" charset="0"/>
                <a:ea typeface="Verdana" pitchFamily="34" charset="0"/>
                <a:cs typeface="Verdana" pitchFamily="34" charset="0"/>
              </a:rPr>
              <a:t xml:space="preserve">1,525</a:t>
            </a:r>
          </a:p>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images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a:xfrm>
            <a:off x="502920" y="384048"/>
            <a:ext cx="8138160" cy="768096"/>
          </a:xfrm>
        </p:spPr>
        <p:txBody>
          <a:bodyPr anchor="ctr">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System Design</a:t>
            </a:r>
          </a:p>
        </p:txBody>
      </p:sp>
      <p:sp>
        <p:nvSpPr>
          <p:cNvPr id="1048636"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
        <p:nvSpPr>
          <p:cNvPr id="1048637" name="Rounded Rectangle 1048636"/>
          <p:cNvSpPr/>
          <p:nvPr/>
        </p:nvSpPr>
        <p:spPr>
          <a:xfrm>
            <a:off x="274320" y="1426464"/>
            <a:ext cx="914400" cy="548640"/>
          </a:xfrm>
          <a:prstGeom prst="roundRect">
            <a:avLst>
              <a:gd name="adj" fmla="val 16000"/>
            </a:avLst>
          </a:prstGeom>
          <a:solidFill>
            <a:srgbClr val="263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noAutofit/>
          </a:bodyPr>
          <a:lstStyle/>
          <a:p>
            <a:pPr marL="0" indent="0" algn="ctr" rtl="0">
              <a:lnSpc>
                <a:spcPct val="105000"/>
              </a:lnSpc>
              <a:spcBef>
                <a:spcPts val="0"/>
              </a:spcBef>
              <a:spcAft>
                <a:spcPts val="0"/>
              </a:spcAft>
              <a:buNone/>
            </a:pPr>
            <a:r>
              <a:rPr lang="en-US" sz="700" b="1" i="0" dirty="0">
                <a:solidFill>
                  <a:srgbClr val="FFFFFF"/>
                </a:solidFill>
                <a:latin typeface="Verdana" pitchFamily="34" charset="0"/>
                <a:ea typeface="Verdana" pitchFamily="34" charset="0"/>
                <a:cs typeface="Verdana" pitchFamily="34" charset="0"/>
              </a:rPr>
              <a:t xml:space="preserve">DATA PIPELINE</a:t>
            </a:r>
          </a:p>
        </p:txBody>
      </p:sp>
      <p:sp>
        <p:nvSpPr>
          <p:cNvPr id="1048638" name="Rounded Rectangle 1048637"/>
          <p:cNvSpPr/>
          <p:nvPr/>
        </p:nvSpPr>
        <p:spPr>
          <a:xfrm>
            <a:off x="1316736" y="1335024"/>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AIDER dataset</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4,916 aerial images</a:t>
            </a:r>
          </a:p>
        </p:txBody>
      </p:sp>
      <p:sp>
        <p:nvSpPr>
          <p:cNvPr id="1048639" name="Right Arrow 1048638"/>
          <p:cNvSpPr/>
          <p:nvPr/>
        </p:nvSpPr>
        <p:spPr>
          <a:xfrm>
            <a:off x="3035808" y="1618487"/>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40" name="Rounded Rectangle 1048639"/>
          <p:cNvSpPr/>
          <p:nvPr/>
        </p:nvSpPr>
        <p:spPr>
          <a:xfrm>
            <a:off x="3241548" y="1335024"/>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Audit + de-duplicate</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200 near-copies removed</a:t>
            </a:r>
          </a:p>
        </p:txBody>
      </p:sp>
      <p:sp>
        <p:nvSpPr>
          <p:cNvPr id="1048641" name="Right Arrow 1048640"/>
          <p:cNvSpPr/>
          <p:nvPr/>
        </p:nvSpPr>
        <p:spPr>
          <a:xfrm>
            <a:off x="4960620" y="1618487"/>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42" name="Rounded Rectangle 1048641"/>
          <p:cNvSpPr/>
          <p:nvPr/>
        </p:nvSpPr>
        <p:spPr>
          <a:xfrm>
            <a:off x="5166360" y="1335024"/>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Subsample + split</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70 / 15 / 15 stratified</a:t>
            </a:r>
          </a:p>
        </p:txBody>
      </p:sp>
      <p:sp>
        <p:nvSpPr>
          <p:cNvPr id="1048643" name="Right Arrow 1048642"/>
          <p:cNvSpPr/>
          <p:nvPr/>
        </p:nvSpPr>
        <p:spPr>
          <a:xfrm>
            <a:off x="6885432" y="1618487"/>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44" name="Rounded Rectangle 1048643"/>
          <p:cNvSpPr/>
          <p:nvPr/>
        </p:nvSpPr>
        <p:spPr>
          <a:xfrm>
            <a:off x="7091171" y="1335024"/>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Random-resized crop</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224×224 + augment</a:t>
            </a:r>
          </a:p>
        </p:txBody>
      </p:sp>
      <p:sp>
        <p:nvSpPr>
          <p:cNvPr id="1048645" name="Down Arrow 1048644"/>
          <p:cNvSpPr/>
          <p:nvPr/>
        </p:nvSpPr>
        <p:spPr>
          <a:xfrm>
            <a:off x="2075688" y="2121408"/>
            <a:ext cx="164592" cy="237744"/>
          </a:xfrm>
          <a:prstGeom prst="down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46" name="Rounded Rectangle 1048645"/>
          <p:cNvSpPr/>
          <p:nvPr/>
        </p:nvSpPr>
        <p:spPr>
          <a:xfrm>
            <a:off x="274320" y="2505456"/>
            <a:ext cx="914400" cy="548640"/>
          </a:xfrm>
          <a:prstGeom prst="roundRect">
            <a:avLst>
              <a:gd name="adj" fmla="val 16000"/>
            </a:avLst>
          </a:prstGeom>
          <a:solidFill>
            <a:srgbClr val="263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noAutofit/>
          </a:bodyPr>
          <a:lstStyle/>
          <a:p>
            <a:pPr marL="0" indent="0" algn="ctr" rtl="0">
              <a:lnSpc>
                <a:spcPct val="105000"/>
              </a:lnSpc>
              <a:spcBef>
                <a:spcPts val="0"/>
              </a:spcBef>
              <a:spcAft>
                <a:spcPts val="0"/>
              </a:spcAft>
              <a:buNone/>
            </a:pPr>
            <a:r>
              <a:rPr lang="en-US" sz="700" b="1" i="0" dirty="0">
                <a:solidFill>
                  <a:srgbClr val="FFFFFF"/>
                </a:solidFill>
                <a:latin typeface="Verdana" pitchFamily="34" charset="0"/>
                <a:ea typeface="Verdana" pitchFamily="34" charset="0"/>
                <a:cs typeface="Verdana" pitchFamily="34" charset="0"/>
              </a:rPr>
              <a:t xml:space="preserve">MODEL</a:t>
            </a:r>
          </a:p>
        </p:txBody>
      </p:sp>
      <p:sp>
        <p:nvSpPr>
          <p:cNvPr id="1048647" name="Rounded Rectangle 1048646"/>
          <p:cNvSpPr/>
          <p:nvPr/>
        </p:nvSpPr>
        <p:spPr>
          <a:xfrm>
            <a:off x="1316736" y="2414015"/>
            <a:ext cx="1682496" cy="731520"/>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MobileNetV2</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ImageNet weights</a:t>
            </a:r>
          </a:p>
        </p:txBody>
      </p:sp>
      <p:sp>
        <p:nvSpPr>
          <p:cNvPr id="1048648" name="Right Arrow 1048647"/>
          <p:cNvSpPr/>
          <p:nvPr/>
        </p:nvSpPr>
        <p:spPr>
          <a:xfrm>
            <a:off x="3035808" y="2697479"/>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49" name="Rounded Rectangle 1048648"/>
          <p:cNvSpPr/>
          <p:nvPr/>
        </p:nvSpPr>
        <p:spPr>
          <a:xfrm>
            <a:off x="3241548" y="2414015"/>
            <a:ext cx="1682496" cy="731520"/>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Phase 1: frozen</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Adam 1e-3</a:t>
            </a:r>
          </a:p>
        </p:txBody>
      </p:sp>
      <p:sp>
        <p:nvSpPr>
          <p:cNvPr id="1048650" name="Right Arrow 1048649"/>
          <p:cNvSpPr/>
          <p:nvPr/>
        </p:nvSpPr>
        <p:spPr>
          <a:xfrm>
            <a:off x="4960620" y="2697479"/>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51" name="Rounded Rectangle 1048650"/>
          <p:cNvSpPr/>
          <p:nvPr/>
        </p:nvSpPr>
        <p:spPr>
          <a:xfrm>
            <a:off x="5166360" y="2414015"/>
            <a:ext cx="1682496" cy="731520"/>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Phase 2: fine-tune</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from block_13_expand</a:t>
            </a:r>
          </a:p>
        </p:txBody>
      </p:sp>
      <p:sp>
        <p:nvSpPr>
          <p:cNvPr id="1048652" name="Right Arrow 1048651"/>
          <p:cNvSpPr/>
          <p:nvPr/>
        </p:nvSpPr>
        <p:spPr>
          <a:xfrm>
            <a:off x="6885432" y="2697479"/>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53" name="Rounded Rectangle 1048652"/>
          <p:cNvSpPr/>
          <p:nvPr/>
        </p:nvSpPr>
        <p:spPr>
          <a:xfrm>
            <a:off x="7091171" y="2414015"/>
            <a:ext cx="1682496" cy="731520"/>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Dense 1, sigmoid</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P(flood)</a:t>
            </a:r>
          </a:p>
        </p:txBody>
      </p:sp>
      <p:sp>
        <p:nvSpPr>
          <p:cNvPr id="1048654" name="Down Arrow 1048653"/>
          <p:cNvSpPr/>
          <p:nvPr/>
        </p:nvSpPr>
        <p:spPr>
          <a:xfrm>
            <a:off x="2075688" y="3200399"/>
            <a:ext cx="164592" cy="237744"/>
          </a:xfrm>
          <a:prstGeom prst="down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55" name="Rounded Rectangle 1048654"/>
          <p:cNvSpPr/>
          <p:nvPr/>
        </p:nvSpPr>
        <p:spPr>
          <a:xfrm>
            <a:off x="274320" y="3584448"/>
            <a:ext cx="914400" cy="548640"/>
          </a:xfrm>
          <a:prstGeom prst="roundRect">
            <a:avLst>
              <a:gd name="adj" fmla="val 16000"/>
            </a:avLst>
          </a:prstGeom>
          <a:solidFill>
            <a:srgbClr val="263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noAutofit/>
          </a:bodyPr>
          <a:lstStyle/>
          <a:p>
            <a:pPr marL="0" indent="0" algn="ctr" rtl="0">
              <a:lnSpc>
                <a:spcPct val="105000"/>
              </a:lnSpc>
              <a:spcBef>
                <a:spcPts val="0"/>
              </a:spcBef>
              <a:spcAft>
                <a:spcPts val="0"/>
              </a:spcAft>
              <a:buNone/>
            </a:pPr>
            <a:r>
              <a:rPr lang="en-US" sz="700" b="1" i="0" dirty="0">
                <a:solidFill>
                  <a:srgbClr val="FFFFFF"/>
                </a:solidFill>
                <a:latin typeface="Verdana" pitchFamily="34" charset="0"/>
                <a:ea typeface="Verdana" pitchFamily="34" charset="0"/>
                <a:cs typeface="Verdana" pitchFamily="34" charset="0"/>
              </a:rPr>
              <a:t xml:space="preserve">DECISION + DELIVERY</a:t>
            </a:r>
          </a:p>
        </p:txBody>
      </p:sp>
      <p:sp>
        <p:nvSpPr>
          <p:cNvPr id="1048656" name="Rounded Rectangle 1048655"/>
          <p:cNvSpPr/>
          <p:nvPr/>
        </p:nvSpPr>
        <p:spPr>
          <a:xfrm>
            <a:off x="1316736" y="3493008"/>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Threshold 0.30</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tuned on validation</a:t>
            </a:r>
          </a:p>
        </p:txBody>
      </p:sp>
      <p:sp>
        <p:nvSpPr>
          <p:cNvPr id="1048657" name="Right Arrow 1048656"/>
          <p:cNvSpPr/>
          <p:nvPr/>
        </p:nvSpPr>
        <p:spPr>
          <a:xfrm>
            <a:off x="3035808" y="3776472"/>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58" name="Rounded Rectangle 1048657"/>
          <p:cNvSpPr/>
          <p:nvPr/>
        </p:nvSpPr>
        <p:spPr>
          <a:xfrm>
            <a:off x="3241548" y="3493008"/>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Grad-CAM on Conv_1</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visual evidence</a:t>
            </a:r>
          </a:p>
        </p:txBody>
      </p:sp>
      <p:sp>
        <p:nvSpPr>
          <p:cNvPr id="1048659" name="Right Arrow 1048658"/>
          <p:cNvSpPr/>
          <p:nvPr/>
        </p:nvSpPr>
        <p:spPr>
          <a:xfrm>
            <a:off x="4960620" y="3776472"/>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60" name="Rounded Rectangle 1048659"/>
          <p:cNvSpPr/>
          <p:nvPr/>
        </p:nvSpPr>
        <p:spPr>
          <a:xfrm>
            <a:off x="5166360" y="3493008"/>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Streamlit app</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single + batch</a:t>
            </a:r>
          </a:p>
        </p:txBody>
      </p:sp>
      <p:sp>
        <p:nvSpPr>
          <p:cNvPr id="1048661" name="Right Arrow 1048660"/>
          <p:cNvSpPr/>
          <p:nvPr/>
        </p:nvSpPr>
        <p:spPr>
          <a:xfrm>
            <a:off x="6885432" y="3776472"/>
            <a:ext cx="169164" cy="164592"/>
          </a:xfrm>
          <a:prstGeom prst="rightArrow">
            <a:avLst/>
          </a:prstGeom>
          <a:solidFill>
            <a:srgbClr val="92A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662" name="Rounded Rectangle 1048661"/>
          <p:cNvSpPr/>
          <p:nvPr/>
        </p:nvSpPr>
        <p:spPr>
          <a:xfrm>
            <a:off x="7091171" y="3493008"/>
            <a:ext cx="1682496" cy="731520"/>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marL="0" indent="0" algn="ctr" rtl="0">
              <a:lnSpc>
                <a:spcPct val="105000"/>
              </a:lnSpc>
              <a:spcBef>
                <a:spcPts val="0"/>
              </a:spcBef>
              <a:spcAft>
                <a:spcPts val="110"/>
              </a:spcAft>
              <a:buNone/>
            </a:pPr>
            <a:r>
              <a:rPr lang="en-US" sz="900" b="1" i="0" dirty="0">
                <a:solidFill>
                  <a:srgbClr val="263248"/>
                </a:solidFill>
                <a:latin typeface="Verdana" pitchFamily="34" charset="0"/>
                <a:ea typeface="Verdana" pitchFamily="34" charset="0"/>
                <a:cs typeface="Verdana" pitchFamily="34" charset="0"/>
              </a:rPr>
              <a:t xml:space="preserve">TFLite export</a:t>
            </a:r>
          </a:p>
          <a:p>
            <a:pPr marL="0" indent="0" algn="ctr" rtl="0">
              <a:lnSpc>
                <a:spcPct val="105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4.57 MB, 7.3 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14"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Model Architecture and Training</a:t>
            </a:r>
          </a:p>
        </p:txBody>
      </p:sp>
      <p:sp>
        <p:nvSpPr>
          <p:cNvPr id="1048615"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lang="en"/>
          </a:p>
        </p:txBody>
      </p:sp>
      <p:sp>
        <p:nvSpPr>
          <p:cNvPr id="1048616" name="Rounded Rectangle 1048615"/>
          <p:cNvSpPr/>
          <p:nvPr/>
        </p:nvSpPr>
        <p:spPr>
          <a:xfrm>
            <a:off x="365760" y="1298448"/>
            <a:ext cx="3931920" cy="384048"/>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Input image</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224 × 224 × 3 RGB, 0..255</a:t>
            </a:r>
          </a:p>
        </p:txBody>
      </p:sp>
      <p:sp>
        <p:nvSpPr>
          <p:cNvPr id="1048617" name="Rounded Rectangle 1048616"/>
          <p:cNvSpPr/>
          <p:nvPr/>
        </p:nvSpPr>
        <p:spPr>
          <a:xfrm>
            <a:off x="365760" y="1723644"/>
            <a:ext cx="3931920" cy="384048"/>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Augmentation</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flip, ±18°, brightness/contrast — training only</a:t>
            </a:r>
          </a:p>
        </p:txBody>
      </p:sp>
      <p:sp>
        <p:nvSpPr>
          <p:cNvPr id="1048618" name="Rounded Rectangle 1048617"/>
          <p:cNvSpPr/>
          <p:nvPr/>
        </p:nvSpPr>
        <p:spPr>
          <a:xfrm>
            <a:off x="365760" y="2148840"/>
            <a:ext cx="3931920" cy="384048"/>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MobileNetV2 preprocess</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scales pixels to −1..1</a:t>
            </a:r>
          </a:p>
        </p:txBody>
      </p:sp>
      <p:sp>
        <p:nvSpPr>
          <p:cNvPr id="1048619" name="Rounded Rectangle 1048618"/>
          <p:cNvSpPr/>
          <p:nvPr/>
        </p:nvSpPr>
        <p:spPr>
          <a:xfrm>
            <a:off x="365760" y="2574036"/>
            <a:ext cx="3931920" cy="384048"/>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MobileNetV2 backbone</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ImageNet weights — 7×7×1280 maps</a:t>
            </a:r>
          </a:p>
        </p:txBody>
      </p:sp>
      <p:sp>
        <p:nvSpPr>
          <p:cNvPr id="1048620" name="Rounded Rectangle 1048619"/>
          <p:cNvSpPr/>
          <p:nvPr/>
        </p:nvSpPr>
        <p:spPr>
          <a:xfrm>
            <a:off x="365760" y="2999232"/>
            <a:ext cx="3931920" cy="384048"/>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GlobalAveragePooling2D</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1280 features</a:t>
            </a:r>
          </a:p>
        </p:txBody>
      </p:sp>
      <p:sp>
        <p:nvSpPr>
          <p:cNvPr id="1048621" name="Rounded Rectangle 1048620"/>
          <p:cNvSpPr/>
          <p:nvPr/>
        </p:nvSpPr>
        <p:spPr>
          <a:xfrm>
            <a:off x="365760" y="3424427"/>
            <a:ext cx="3931920" cy="384048"/>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Dropout 0.3 → Dense 128 ReLU → Dropout 0.2</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classification head</a:t>
            </a:r>
          </a:p>
        </p:txBody>
      </p:sp>
      <p:sp>
        <p:nvSpPr>
          <p:cNvPr id="1048622" name="Rounded Rectangle 1048621"/>
          <p:cNvSpPr/>
          <p:nvPr/>
        </p:nvSpPr>
        <p:spPr>
          <a:xfrm>
            <a:off x="365760" y="3849624"/>
            <a:ext cx="3931920" cy="384048"/>
          </a:xfrm>
          <a:prstGeom prst="roundRect">
            <a:avLst>
              <a:gd name="adj" fmla="val 8000"/>
            </a:avLst>
          </a:prstGeom>
          <a:solidFill>
            <a:srgbClr val="C7D3E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 tIns="9144" rIns="54864" bIns="9144">
            <a:noAutofit/>
          </a:bodyPr>
          <a:lstStyle/>
          <a:p>
            <a:pPr marL="0" indent="0" algn="l" rtl="0">
              <a:lnSpc>
                <a:spcPct val="100000"/>
              </a:lnSpc>
              <a:spcBef>
                <a:spcPts val="0"/>
              </a:spcBef>
              <a:spcAft>
                <a:spcPts val="20"/>
              </a:spcAft>
              <a:buNone/>
            </a:pPr>
            <a:r>
              <a:rPr lang="en-US" sz="900" b="1" i="0" dirty="0">
                <a:solidFill>
                  <a:srgbClr val="263248"/>
                </a:solidFill>
                <a:latin typeface="Verdana" pitchFamily="34" charset="0"/>
                <a:ea typeface="Verdana" pitchFamily="34" charset="0"/>
                <a:cs typeface="Verdana" pitchFamily="34" charset="0"/>
              </a:rPr>
              <a:t xml:space="preserve">Dense 1, sigmoid</a:t>
            </a:r>
          </a:p>
          <a:p>
            <a:pPr marL="0" indent="0" algn="l" rtl="0">
              <a:lnSpc>
                <a:spcPct val="100000"/>
              </a:lnSpc>
              <a:spcBef>
                <a:spcPts val="0"/>
              </a:spcBef>
              <a:spcAft>
                <a:spcPts val="0"/>
              </a:spcAft>
              <a:buNone/>
            </a:pPr>
            <a:r>
              <a:rPr lang="en-US" sz="750" b="0" i="0" dirty="0">
                <a:solidFill>
                  <a:srgbClr val="3F5378"/>
                </a:solidFill>
                <a:latin typeface="Verdana" pitchFamily="34" charset="0"/>
                <a:ea typeface="Verdana" pitchFamily="34" charset="0"/>
                <a:cs typeface="Verdana" pitchFamily="34" charset="0"/>
              </a:rPr>
              <a:t xml:space="preserve">P(flood)</a:t>
            </a:r>
          </a:p>
        </p:txBody>
      </p:sp>
      <p:sp>
        <p:nvSpPr>
          <p:cNvPr id="1048623" name="TextBox 1048622"/>
          <p:cNvSpPr txBox="1"/>
          <p:nvPr/>
        </p:nvSpPr>
        <p:spPr>
          <a:xfrm>
            <a:off x="365760" y="4293107"/>
            <a:ext cx="3931920" cy="292608"/>
          </a:xfrm>
          <a:prstGeom prst="rect">
            <a:avLst/>
          </a:prstGeom>
          <a:noFill/>
        </p:spPr>
        <p:txBody>
          <a:bodyPr wrap="square" anchor="t" lIns="54864" tIns="36576" rIns="54864" bIns="36576">
            <a:noAutofit/>
          </a:bodyPr>
          <a:lstStyle/>
          <a:p>
            <a:pPr marL="0" indent="0" algn="ctr" rtl="0">
              <a:lnSpc>
                <a:spcPct val="100000"/>
              </a:lnSpc>
              <a:spcBef>
                <a:spcPts val="0"/>
              </a:spcBef>
              <a:spcAft>
                <a:spcPts val="0"/>
              </a:spcAft>
              <a:buNone/>
            </a:pPr>
            <a:r>
              <a:rPr lang="en-US" sz="950" b="0" i="1" dirty="0">
                <a:solidFill>
                  <a:srgbClr val="5A6880"/>
                </a:solidFill>
                <a:latin typeface="Verdana" pitchFamily="34" charset="0"/>
                <a:ea typeface="Verdana" pitchFamily="34" charset="0"/>
                <a:cs typeface="Verdana" pitchFamily="34" charset="0"/>
              </a:rPr>
              <a:t xml:space="preserve">Fig. 1  One flat functional model — Conv_1 stays reachable for Grad-CAM</a:t>
            </a:r>
          </a:p>
        </p:txBody>
      </p:sp>
      <p:sp>
        <p:nvSpPr>
          <p:cNvPr id="1048624" name="Rounded Rectangle 1048623"/>
          <p:cNvSpPr/>
          <p:nvPr/>
        </p:nvSpPr>
        <p:spPr>
          <a:xfrm>
            <a:off x="4572000" y="1316736"/>
            <a:ext cx="4187952" cy="3163824"/>
          </a:xfrm>
          <a:prstGeom prst="roundRect">
            <a:avLst>
              <a:gd name="adj" fmla="val 800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25" name="TextBox 1048624"/>
          <p:cNvSpPr txBox="1"/>
          <p:nvPr/>
        </p:nvSpPr>
        <p:spPr>
          <a:xfrm>
            <a:off x="4718304" y="1426464"/>
            <a:ext cx="3895344" cy="2944368"/>
          </a:xfrm>
          <a:prstGeom prst="rect">
            <a:avLst/>
          </a:prstGeom>
          <a:noFill/>
        </p:spPr>
        <p:txBody>
          <a:bodyPr wrap="square" anchor="ctr" lIns="54864" tIns="36576" rIns="54864" bIns="36576">
            <a:noAutofit/>
          </a:bodyPr>
          <a:lstStyle/>
          <a:p>
            <a:pPr marL="0" indent="0" algn="l" rtl="0">
              <a:lnSpc>
                <a:spcPct val="100000"/>
              </a:lnSpc>
              <a:spcBef>
                <a:spcPts val="0"/>
              </a:spcBef>
              <a:spcAft>
                <a:spcPts val="90"/>
              </a:spcAft>
              <a:buNone/>
            </a:pPr>
            <a:r>
              <a:rPr lang="en-US" sz="1000" b="1" i="0" dirty="0">
                <a:solidFill>
                  <a:srgbClr val="3F5378"/>
                </a:solidFill>
                <a:latin typeface="Verdana" pitchFamily="34" charset="0"/>
                <a:ea typeface="Verdana" pitchFamily="34" charset="0"/>
                <a:cs typeface="Verdana" pitchFamily="34" charset="0"/>
              </a:rPr>
              <a:t xml:space="preserve">Phase 1 — frozen backbone</a:t>
            </a:r>
          </a:p>
          <a:p>
            <a:pPr marL="0" indent="0" algn="l" rtl="0">
              <a:lnSpc>
                <a:spcPct val="112000"/>
              </a:lnSpc>
              <a:spcBef>
                <a:spcPts val="0"/>
              </a:spcBef>
              <a:spcAft>
                <a:spcPts val="260"/>
              </a:spcAft>
              <a:buNone/>
            </a:pPr>
            <a:r>
              <a:rPr lang="en-US" sz="900" b="0" i="0" dirty="0">
                <a:solidFill>
                  <a:srgbClr val="263248"/>
                </a:solidFill>
                <a:latin typeface="Verdana" pitchFamily="34" charset="0"/>
                <a:ea typeface="Verdana" pitchFamily="34" charset="0"/>
                <a:cs typeface="Verdana" pitchFamily="34" charset="0"/>
              </a:rPr>
              <a:t xml:space="preserve">Adam 1e-3, up to 15 epochs</a:t>
            </a:r>
          </a:p>
          <a:p>
            <a:pPr marL="0" indent="0" algn="l" rtl="0">
              <a:lnSpc>
                <a:spcPct val="100000"/>
              </a:lnSpc>
              <a:spcBef>
                <a:spcPts val="0"/>
              </a:spcBef>
              <a:spcAft>
                <a:spcPts val="90"/>
              </a:spcAft>
              <a:buNone/>
            </a:pPr>
            <a:r>
              <a:rPr lang="en-US" sz="1000" b="1" i="0" dirty="0">
                <a:solidFill>
                  <a:srgbClr val="3F5378"/>
                </a:solidFill>
                <a:latin typeface="Verdana" pitchFamily="34" charset="0"/>
                <a:ea typeface="Verdana" pitchFamily="34" charset="0"/>
                <a:cs typeface="Verdana" pitchFamily="34" charset="0"/>
              </a:rPr>
              <a:t xml:space="preserve">Phase 2 — fine-tuning</a:t>
            </a:r>
          </a:p>
          <a:p>
            <a:pPr marL="0" indent="0" algn="l" rtl="0">
              <a:lnSpc>
                <a:spcPct val="112000"/>
              </a:lnSpc>
              <a:spcBef>
                <a:spcPts val="0"/>
              </a:spcBef>
              <a:spcAft>
                <a:spcPts val="260"/>
              </a:spcAft>
              <a:buNone/>
            </a:pPr>
            <a:r>
              <a:rPr lang="en-US" sz="900" b="0" i="0" dirty="0">
                <a:solidFill>
                  <a:srgbClr val="263248"/>
                </a:solidFill>
                <a:latin typeface="Verdana" pitchFamily="34" charset="0"/>
                <a:ea typeface="Verdana" pitchFamily="34" charset="0"/>
                <a:cs typeface="Verdana" pitchFamily="34" charset="0"/>
              </a:rPr>
              <a:t xml:space="preserve">unfreeze from block_13_expand, Adam 1e-5; BatchNorm stays frozen</a:t>
            </a:r>
          </a:p>
          <a:p>
            <a:pPr marL="0" indent="0" algn="l" rtl="0">
              <a:lnSpc>
                <a:spcPct val="100000"/>
              </a:lnSpc>
              <a:spcBef>
                <a:spcPts val="0"/>
              </a:spcBef>
              <a:spcAft>
                <a:spcPts val="90"/>
              </a:spcAft>
              <a:buNone/>
            </a:pPr>
            <a:r>
              <a:rPr lang="en-US" sz="1000" b="1" i="0" dirty="0">
                <a:solidFill>
                  <a:srgbClr val="3F5378"/>
                </a:solidFill>
                <a:latin typeface="Verdana" pitchFamily="34" charset="0"/>
                <a:ea typeface="Verdana" pitchFamily="34" charset="0"/>
                <a:cs typeface="Verdana" pitchFamily="34" charset="0"/>
              </a:rPr>
              <a:t xml:space="preserve">Class weights</a:t>
            </a:r>
          </a:p>
          <a:p>
            <a:pPr marL="0" indent="0" algn="l" rtl="0">
              <a:lnSpc>
                <a:spcPct val="112000"/>
              </a:lnSpc>
              <a:spcBef>
                <a:spcPts val="0"/>
              </a:spcBef>
              <a:spcAft>
                <a:spcPts val="260"/>
              </a:spcAft>
              <a:buNone/>
            </a:pPr>
            <a:r>
              <a:rPr lang="en-US" sz="900" b="0" i="0" dirty="0">
                <a:solidFill>
                  <a:srgbClr val="263248"/>
                </a:solidFill>
                <a:latin typeface="Verdana" pitchFamily="34" charset="0"/>
                <a:ea typeface="Verdana" pitchFamily="34" charset="0"/>
                <a:cs typeface="Verdana" pitchFamily="34" charset="0"/>
              </a:rPr>
              <a:t xml:space="preserve">0.763 no_flood / 1.451 flood</a:t>
            </a:r>
          </a:p>
          <a:p>
            <a:pPr marL="0" indent="0" algn="l" rtl="0">
              <a:lnSpc>
                <a:spcPct val="100000"/>
              </a:lnSpc>
              <a:spcBef>
                <a:spcPts val="0"/>
              </a:spcBef>
              <a:spcAft>
                <a:spcPts val="90"/>
              </a:spcAft>
              <a:buNone/>
            </a:pPr>
            <a:r>
              <a:rPr lang="en-US" sz="1000" b="1" i="0" dirty="0">
                <a:solidFill>
                  <a:srgbClr val="3F5378"/>
                </a:solidFill>
                <a:latin typeface="Verdana" pitchFamily="34" charset="0"/>
                <a:ea typeface="Verdana" pitchFamily="34" charset="0"/>
                <a:cs typeface="Verdana" pitchFamily="34" charset="0"/>
              </a:rPr>
              <a:t xml:space="preserve">Callbacks</a:t>
            </a:r>
          </a:p>
          <a:p>
            <a:pPr marL="0" indent="0" algn="l" rtl="0">
              <a:lnSpc>
                <a:spcPct val="112000"/>
              </a:lnSpc>
              <a:spcBef>
                <a:spcPts val="0"/>
              </a:spcBef>
              <a:spcAft>
                <a:spcPts val="260"/>
              </a:spcAft>
              <a:buNone/>
            </a:pPr>
            <a:r>
              <a:rPr lang="en-US" sz="900" b="0" i="0" dirty="0">
                <a:solidFill>
                  <a:srgbClr val="263248"/>
                </a:solidFill>
                <a:latin typeface="Verdana" pitchFamily="34" charset="0"/>
                <a:ea typeface="Verdana" pitchFamily="34" charset="0"/>
                <a:cs typeface="Verdana" pitchFamily="34" charset="0"/>
              </a:rPr>
              <a:t xml:space="preserve">early stopping on val AUC (patience 5); LR halved on val-loss plateau</a:t>
            </a:r>
          </a:p>
          <a:p>
            <a:pPr marL="0" indent="0" algn="l" rtl="0">
              <a:lnSpc>
                <a:spcPct val="100000"/>
              </a:lnSpc>
              <a:spcBef>
                <a:spcPts val="0"/>
              </a:spcBef>
              <a:spcAft>
                <a:spcPts val="90"/>
              </a:spcAft>
              <a:buNone/>
            </a:pPr>
            <a:r>
              <a:rPr lang="en-US" sz="1000" b="1" i="0" dirty="0">
                <a:solidFill>
                  <a:srgbClr val="3F5378"/>
                </a:solidFill>
                <a:latin typeface="Verdana" pitchFamily="34" charset="0"/>
                <a:ea typeface="Verdana" pitchFamily="34" charset="0"/>
                <a:cs typeface="Verdana" pitchFamily="34" charset="0"/>
              </a:rPr>
              <a:t xml:space="preserve">Repeats</a:t>
            </a:r>
          </a:p>
          <a:p>
            <a:pPr marL="0" indent="0" algn="l" rtl="0">
              <a:lnSpc>
                <a:spcPct val="112000"/>
              </a:lnSpc>
              <a:spcBef>
                <a:spcPts val="0"/>
              </a:spcBef>
              <a:spcAft>
                <a:spcPts val="260"/>
              </a:spcAft>
              <a:buNone/>
            </a:pPr>
            <a:r>
              <a:rPr lang="en-US" sz="900" b="0" i="0" dirty="0">
                <a:solidFill>
                  <a:srgbClr val="263248"/>
                </a:solidFill>
                <a:latin typeface="Verdana" pitchFamily="34" charset="0"/>
                <a:ea typeface="Verdana" pitchFamily="34" charset="0"/>
                <a:cs typeface="Verdana" pitchFamily="34" charset="0"/>
              </a:rPr>
              <a:t xml:space="preserve">seeds 42, 43, 44 — variant chosen on mean validation AUC</a:t>
            </a:r>
          </a:p>
          <a:p>
            <a:pPr marL="0" indent="0" algn="l" rtl="0">
              <a:lnSpc>
                <a:spcPct val="100000"/>
              </a:lnSpc>
              <a:spcBef>
                <a:spcPts val="0"/>
              </a:spcBef>
              <a:spcAft>
                <a:spcPts val="90"/>
              </a:spcAft>
              <a:buNone/>
            </a:pPr>
            <a:r>
              <a:rPr lang="en-US" sz="1000" b="1" i="0" dirty="0">
                <a:solidFill>
                  <a:srgbClr val="3F5378"/>
                </a:solidFill>
                <a:latin typeface="Verdana" pitchFamily="34" charset="0"/>
                <a:ea typeface="Verdana" pitchFamily="34" charset="0"/>
                <a:cs typeface="Verdana" pitchFamily="34" charset="0"/>
              </a:rPr>
              <a:t xml:space="preserve">Test set</a:t>
            </a:r>
          </a:p>
          <a:p>
            <a:pPr marL="0" indent="0" algn="l" rtl="0">
              <a:lnSpc>
                <a:spcPct val="112000"/>
              </a:lnSpc>
              <a:spcBef>
                <a:spcPts val="0"/>
              </a:spcBef>
              <a:spcAft>
                <a:spcPts val="260"/>
              </a:spcAft>
              <a:buNone/>
            </a:pPr>
            <a:r>
              <a:rPr lang="en-US" sz="900" b="0" i="0" dirty="0">
                <a:solidFill>
                  <a:srgbClr val="263248"/>
                </a:solidFill>
                <a:latin typeface="Verdana" pitchFamily="34" charset="0"/>
                <a:ea typeface="Verdana" pitchFamily="34" charset="0"/>
                <a:cs typeface="Verdana" pitchFamily="34" charset="0"/>
              </a:rPr>
              <a:t xml:space="preserve">never used for any choice; deployed run is seed 43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42"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Results — Test Set Performance</a:t>
            </a:r>
          </a:p>
        </p:txBody>
      </p:sp>
      <p:sp>
        <p:nvSpPr>
          <p:cNvPr id="1048643"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lang="en"/>
          </a:p>
        </p:txBody>
      </p:sp>
      <p:pic>
        <p:nvPicPr>
          <p:cNvPr id="1048644" name="Picture 1048643" descr="results_dashboard.png"/>
          <p:cNvPicPr>
            <a:picLocks noChangeAspect="1"/>
          </p:cNvPicPr>
          <p:nvPr/>
        </p:nvPicPr>
        <p:blipFill>
          <a:blip r:embed="rId2"/>
          <a:stretch>
            <a:fillRect/>
          </a:stretch>
        </p:blipFill>
        <p:spPr>
          <a:xfrm>
            <a:off x="365760" y="1298448"/>
            <a:ext cx="3622766" cy="2926080"/>
          </a:xfrm>
          <a:prstGeom prst="rect">
            <a:avLst/>
          </a:prstGeom>
        </p:spPr>
      </p:pic>
      <p:sp>
        <p:nvSpPr>
          <p:cNvPr id="1048645" name="TextBox 1048644"/>
          <p:cNvSpPr txBox="1"/>
          <p:nvPr/>
        </p:nvSpPr>
        <p:spPr>
          <a:xfrm>
            <a:off x="365760" y="4261104"/>
            <a:ext cx="3621024" cy="292608"/>
          </a:xfrm>
          <a:prstGeom prst="rect">
            <a:avLst/>
          </a:prstGeom>
          <a:noFill/>
        </p:spPr>
        <p:txBody>
          <a:bodyPr wrap="square" anchor="t" lIns="54864" tIns="36576" rIns="54864" bIns="36576">
            <a:noAutofit/>
          </a:bodyPr>
          <a:lstStyle/>
          <a:p>
            <a:pPr marL="0" indent="0" algn="ctr" rtl="0">
              <a:lnSpc>
                <a:spcPct val="100000"/>
              </a:lnSpc>
              <a:spcBef>
                <a:spcPts val="0"/>
              </a:spcBef>
              <a:spcAft>
                <a:spcPts val="0"/>
              </a:spcAft>
              <a:buNone/>
            </a:pPr>
            <a:r>
              <a:rPr lang="en-US" sz="950" b="0" i="1" dirty="0">
                <a:solidFill>
                  <a:srgbClr val="5A6880"/>
                </a:solidFill>
                <a:latin typeface="Verdana" pitchFamily="34" charset="0"/>
                <a:ea typeface="Verdana" pitchFamily="34" charset="0"/>
                <a:cs typeface="Verdana" pitchFamily="34" charset="0"/>
              </a:rPr>
              <a:t xml:space="preserve">Fig. 2  Training curves, confusion matrix, ROC and PR curves (test set)</a:t>
            </a:r>
          </a:p>
        </p:txBody>
      </p:sp>
      <p:sp>
        <p:nvSpPr>
          <p:cNvPr id="1048646" name="Rounded Rectangle 1048645"/>
          <p:cNvSpPr/>
          <p:nvPr/>
        </p:nvSpPr>
        <p:spPr>
          <a:xfrm>
            <a:off x="4224528" y="1298448"/>
            <a:ext cx="2157984" cy="877824"/>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47" name="TextBox 1048646"/>
          <p:cNvSpPr txBox="1"/>
          <p:nvPr/>
        </p:nvSpPr>
        <p:spPr>
          <a:xfrm>
            <a:off x="4334256" y="1371600"/>
            <a:ext cx="1938528" cy="731520"/>
          </a:xfrm>
          <a:prstGeom prst="rect">
            <a:avLst/>
          </a:prstGeom>
          <a:noFill/>
        </p:spPr>
        <p:txBody>
          <a:bodyPr wrap="square" anchor="ctr" lIns="54864" tIns="36576" rIns="54864" bIns="36576">
            <a:noAutofit/>
          </a:bodyPr>
          <a:lstStyle/>
          <a:p>
            <a:pPr marL="0" indent="0" algn="l" rtl="0">
              <a:lnSpc>
                <a:spcPct val="100000"/>
              </a:lnSpc>
              <a:spcBef>
                <a:spcPts val="0"/>
              </a:spcBef>
              <a:spcAft>
                <a:spcPts val="60"/>
              </a:spcAft>
              <a:buNone/>
            </a:pPr>
            <a:r>
              <a:rPr lang="en-US" sz="1900" b="1" i="0" dirty="0">
                <a:solidFill>
                  <a:srgbClr val="3F5378"/>
                </a:solidFill>
                <a:latin typeface="Verdana" pitchFamily="34" charset="0"/>
                <a:ea typeface="Verdana" pitchFamily="34" charset="0"/>
                <a:cs typeface="Verdana" pitchFamily="34" charset="0"/>
              </a:rPr>
              <a:t xml:space="preserve">0.987</a:t>
            </a:r>
          </a:p>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RECALL</a:t>
            </a:r>
            <a:r>
              <a:rPr lang="en-US" sz="700" b="0" i="0" dirty="0">
                <a:solidFill>
                  <a:srgbClr val="5A6880"/>
                </a:solidFill>
                <a:latin typeface="Verdana" pitchFamily="34" charset="0"/>
                <a:ea typeface="Verdana" pitchFamily="34" charset="0"/>
                <a:cs typeface="Verdana" pitchFamily="34" charset="0"/>
              </a:rPr>
              <a:t xml:space="preserve">   77 of 78 floods found</a:t>
            </a:r>
          </a:p>
        </p:txBody>
      </p:sp>
      <p:sp>
        <p:nvSpPr>
          <p:cNvPr id="1048648" name="Rounded Rectangle 1048647"/>
          <p:cNvSpPr/>
          <p:nvPr/>
        </p:nvSpPr>
        <p:spPr>
          <a:xfrm>
            <a:off x="6528816" y="1298448"/>
            <a:ext cx="2157984" cy="877824"/>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49" name="TextBox 1048648"/>
          <p:cNvSpPr txBox="1"/>
          <p:nvPr/>
        </p:nvSpPr>
        <p:spPr>
          <a:xfrm>
            <a:off x="6638544" y="1371600"/>
            <a:ext cx="1938528" cy="731520"/>
          </a:xfrm>
          <a:prstGeom prst="rect">
            <a:avLst/>
          </a:prstGeom>
          <a:noFill/>
        </p:spPr>
        <p:txBody>
          <a:bodyPr wrap="square" anchor="ctr" lIns="54864" tIns="36576" rIns="54864" bIns="36576">
            <a:noAutofit/>
          </a:bodyPr>
          <a:lstStyle/>
          <a:p>
            <a:pPr marL="0" indent="0" algn="l" rtl="0">
              <a:lnSpc>
                <a:spcPct val="100000"/>
              </a:lnSpc>
              <a:spcBef>
                <a:spcPts val="0"/>
              </a:spcBef>
              <a:spcAft>
                <a:spcPts val="60"/>
              </a:spcAft>
              <a:buNone/>
            </a:pPr>
            <a:r>
              <a:rPr lang="en-US" sz="1900" b="1" i="0" dirty="0">
                <a:solidFill>
                  <a:srgbClr val="3F5378"/>
                </a:solidFill>
                <a:latin typeface="Verdana" pitchFamily="34" charset="0"/>
                <a:ea typeface="Verdana" pitchFamily="34" charset="0"/>
                <a:cs typeface="Verdana" pitchFamily="34" charset="0"/>
              </a:rPr>
              <a:t xml:space="preserve">0.865</a:t>
            </a:r>
          </a:p>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PRECISION</a:t>
            </a:r>
            <a:r>
              <a:rPr lang="en-US" sz="700" b="0" i="0" dirty="0">
                <a:solidFill>
                  <a:srgbClr val="5A6880"/>
                </a:solidFill>
                <a:latin typeface="Verdana" pitchFamily="34" charset="0"/>
                <a:ea typeface="Verdana" pitchFamily="34" charset="0"/>
                <a:cs typeface="Verdana" pitchFamily="34" charset="0"/>
              </a:rPr>
              <a:t xml:space="preserve">   12 false alarms in 150</a:t>
            </a:r>
          </a:p>
        </p:txBody>
      </p:sp>
      <p:sp>
        <p:nvSpPr>
          <p:cNvPr id="1048650" name="Rounded Rectangle 1048649"/>
          <p:cNvSpPr/>
          <p:nvPr/>
        </p:nvSpPr>
        <p:spPr>
          <a:xfrm>
            <a:off x="4224528" y="2286000"/>
            <a:ext cx="2157984" cy="877824"/>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51" name="TextBox 1048650"/>
          <p:cNvSpPr txBox="1"/>
          <p:nvPr/>
        </p:nvSpPr>
        <p:spPr>
          <a:xfrm>
            <a:off x="4334256" y="2359152"/>
            <a:ext cx="1938528" cy="731520"/>
          </a:xfrm>
          <a:prstGeom prst="rect">
            <a:avLst/>
          </a:prstGeom>
          <a:noFill/>
        </p:spPr>
        <p:txBody>
          <a:bodyPr wrap="square" anchor="ctr" lIns="54864" tIns="36576" rIns="54864" bIns="36576">
            <a:noAutofit/>
          </a:bodyPr>
          <a:lstStyle/>
          <a:p>
            <a:pPr marL="0" indent="0" algn="l" rtl="0">
              <a:lnSpc>
                <a:spcPct val="100000"/>
              </a:lnSpc>
              <a:spcBef>
                <a:spcPts val="0"/>
              </a:spcBef>
              <a:spcAft>
                <a:spcPts val="60"/>
              </a:spcAft>
              <a:buNone/>
            </a:pPr>
            <a:r>
              <a:rPr lang="en-US" sz="1900" b="1" i="0" dirty="0">
                <a:solidFill>
                  <a:srgbClr val="3F5378"/>
                </a:solidFill>
                <a:latin typeface="Verdana" pitchFamily="34" charset="0"/>
                <a:ea typeface="Verdana" pitchFamily="34" charset="0"/>
                <a:cs typeface="Verdana" pitchFamily="34" charset="0"/>
              </a:rPr>
              <a:t xml:space="preserve">0.922</a:t>
            </a:r>
          </a:p>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F1 SCORE</a:t>
            </a:r>
            <a:r>
              <a:rPr lang="en-US" sz="700" b="0" i="0" dirty="0">
                <a:solidFill>
                  <a:srgbClr val="5A6880"/>
                </a:solidFill>
                <a:latin typeface="Verdana" pitchFamily="34" charset="0"/>
                <a:ea typeface="Verdana" pitchFamily="34" charset="0"/>
                <a:cs typeface="Verdana" pitchFamily="34" charset="0"/>
              </a:rPr>
              <a:t xml:space="preserve">   threshold 0.30, tuned on val</a:t>
            </a:r>
          </a:p>
        </p:txBody>
      </p:sp>
      <p:sp>
        <p:nvSpPr>
          <p:cNvPr id="1048652" name="Rounded Rectangle 1048651"/>
          <p:cNvSpPr/>
          <p:nvPr/>
        </p:nvSpPr>
        <p:spPr>
          <a:xfrm>
            <a:off x="6528816" y="2286000"/>
            <a:ext cx="2157984" cy="877824"/>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53" name="TextBox 1048652"/>
          <p:cNvSpPr txBox="1"/>
          <p:nvPr/>
        </p:nvSpPr>
        <p:spPr>
          <a:xfrm>
            <a:off x="6638544" y="2359152"/>
            <a:ext cx="1938528" cy="731520"/>
          </a:xfrm>
          <a:prstGeom prst="rect">
            <a:avLst/>
          </a:prstGeom>
          <a:noFill/>
        </p:spPr>
        <p:txBody>
          <a:bodyPr wrap="square" anchor="ctr" lIns="54864" tIns="36576" rIns="54864" bIns="36576">
            <a:noAutofit/>
          </a:bodyPr>
          <a:lstStyle/>
          <a:p>
            <a:pPr marL="0" indent="0" algn="l" rtl="0">
              <a:lnSpc>
                <a:spcPct val="100000"/>
              </a:lnSpc>
              <a:spcBef>
                <a:spcPts val="0"/>
              </a:spcBef>
              <a:spcAft>
                <a:spcPts val="60"/>
              </a:spcAft>
              <a:buNone/>
            </a:pPr>
            <a:r>
              <a:rPr lang="en-US" sz="1900" b="1" i="0" dirty="0">
                <a:solidFill>
                  <a:srgbClr val="3F5378"/>
                </a:solidFill>
                <a:latin typeface="Verdana" pitchFamily="34" charset="0"/>
                <a:ea typeface="Verdana" pitchFamily="34" charset="0"/>
                <a:cs typeface="Verdana" pitchFamily="34" charset="0"/>
              </a:rPr>
              <a:t xml:space="preserve">0.9955</a:t>
            </a:r>
          </a:p>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ROC AUC</a:t>
            </a:r>
            <a:r>
              <a:rPr lang="en-US" sz="700" b="0" i="0" dirty="0">
                <a:solidFill>
                  <a:srgbClr val="5A6880"/>
                </a:solidFill>
                <a:latin typeface="Verdana" pitchFamily="34" charset="0"/>
                <a:ea typeface="Verdana" pitchFamily="34" charset="0"/>
                <a:cs typeface="Verdana" pitchFamily="34" charset="0"/>
              </a:rPr>
              <a:t xml:space="preserve">   average precision 0.9932</a:t>
            </a:r>
          </a:p>
        </p:txBody>
      </p:sp>
      <p:sp>
        <p:nvSpPr>
          <p:cNvPr id="1048654" name="Rounded Rectangle 1048653"/>
          <p:cNvSpPr/>
          <p:nvPr/>
        </p:nvSpPr>
        <p:spPr>
          <a:xfrm>
            <a:off x="4224528" y="3310128"/>
            <a:ext cx="4462272" cy="1188720"/>
          </a:xfrm>
          <a:prstGeom prst="roundRect">
            <a:avLst>
              <a:gd name="adj" fmla="val 800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55" name="TextBox 1048654"/>
          <p:cNvSpPr txBox="1"/>
          <p:nvPr/>
        </p:nvSpPr>
        <p:spPr>
          <a:xfrm>
            <a:off x="4389120" y="3401568"/>
            <a:ext cx="4151376" cy="1005840"/>
          </a:xfrm>
          <a:prstGeom prst="rect">
            <a:avLst/>
          </a:prstGeom>
          <a:noFill/>
        </p:spPr>
        <p:txBody>
          <a:bodyPr wrap="square" anchor="ctr" lIns="54864" tIns="36576" rIns="54864" bIns="36576">
            <a:noAutofit/>
          </a:bodyPr>
          <a:lstStyle/>
          <a:p>
            <a:pPr marL="0" indent="0" algn="l" rtl="0">
              <a:lnSpc>
                <a:spcPct val="100000"/>
              </a:lnSpc>
              <a:spcBef>
                <a:spcPts val="0"/>
              </a:spcBef>
              <a:spcAft>
                <a:spcPts val="160"/>
              </a:spcAft>
              <a:buNone/>
            </a:pPr>
            <a:r>
              <a:rPr lang="en-US" sz="950" b="1" i="0" dirty="0">
                <a:solidFill>
                  <a:srgbClr val="3F5378"/>
                </a:solidFill>
                <a:latin typeface="Verdana" pitchFamily="34" charset="0"/>
                <a:ea typeface="Verdana" pitchFamily="34" charset="0"/>
                <a:cs typeface="Verdana" pitchFamily="34" charset="0"/>
              </a:rPr>
              <a:t xml:space="preserve">Fine-tuning beats the frozen backbone</a:t>
            </a:r>
          </a:p>
          <a:p>
            <a:pPr marL="0" indent="0" algn="l" rtl="0">
              <a:lnSpc>
                <a:spcPct val="118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Test accuracy 0.9649 ± 0.0044 against 0.9474 ± 0.0494 over seeds 42–44. The threshold 0.30 was chosen as the lowest whose validation precision stays ≥ 0.85 — a missed flood costs lives, a false alarm costs an inspection.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42"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Results — Streamlit Application</a:t>
            </a:r>
          </a:p>
        </p:txBody>
      </p:sp>
      <p:sp>
        <p:nvSpPr>
          <p:cNvPr id="1048643"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lang="en"/>
          </a:p>
        </p:txBody>
      </p:sp>
      <p:sp>
        <p:nvSpPr>
          <p:cNvPr id="1048644" name="Content Placeholder 2"/>
          <p:cNvSpPr txBox="1"/>
          <p:nvPr/>
        </p:nvSpPr>
        <p:spPr>
          <a:xfrm>
            <a:off x="365760" y="1243584"/>
            <a:ext cx="8412480" cy="31089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0" indent="0" algn="l" rtl="0">
              <a:lnSpc>
                <a:spcPct val="100000"/>
              </a:lnSpc>
              <a:spcBef>
                <a:spcPts val="0"/>
              </a:spcBef>
              <a:spcAft>
                <a:spcPts val="0"/>
              </a:spcAft>
              <a:buNone/>
            </a:pPr>
            <a:r>
              <a:rPr lang="en-US" sz="1000" b="0" i="0" dirty="0">
                <a:solidFill>
                  <a:srgbClr val="263248"/>
                </a:solidFill>
                <a:latin typeface="Verdana" pitchFamily="34" charset="0"/>
                <a:ea typeface="Verdana" pitchFamily="34" charset="0"/>
                <a:cs typeface="Verdana" pitchFamily="34" charset="0"/>
              </a:rPr>
              <a:t xml:space="preserve">Upload an image to get the verdict, the flood probability and the Grad-CAM evidence; the sidebar slider re-scores the decision threshold live.</a:t>
            </a:r>
          </a:p>
        </p:txBody>
      </p:sp>
      <p:pic>
        <p:nvPicPr>
          <p:cNvPr id="1048645" name="Picture 1048644" descr="app_3.png"/>
          <p:cNvPicPr>
            <a:picLocks noChangeAspect="1"/>
          </p:cNvPicPr>
          <p:nvPr/>
        </p:nvPicPr>
        <p:blipFill>
          <a:blip r:embed="rId3"/>
          <a:stretch>
            <a:fillRect/>
          </a:stretch>
        </p:blipFill>
        <p:spPr>
          <a:xfrm>
            <a:off x="384048" y="1645920"/>
            <a:ext cx="4005072" cy="2603297"/>
          </a:xfrm>
          <a:prstGeom prst="rect">
            <a:avLst/>
          </a:prstGeom>
        </p:spPr>
      </p:pic>
      <p:pic>
        <p:nvPicPr>
          <p:cNvPr id="1048646" name="Picture 1048645" descr="app_4.png"/>
          <p:cNvPicPr>
            <a:picLocks noChangeAspect="1"/>
          </p:cNvPicPr>
          <p:nvPr/>
        </p:nvPicPr>
        <p:blipFill>
          <a:blip r:embed="rId4"/>
          <a:stretch>
            <a:fillRect/>
          </a:stretch>
        </p:blipFill>
        <p:spPr>
          <a:xfrm>
            <a:off x="4754880" y="1645920"/>
            <a:ext cx="4005072" cy="2603297"/>
          </a:xfrm>
          <a:prstGeom prst="rect">
            <a:avLst/>
          </a:prstGeom>
        </p:spPr>
      </p:pic>
      <p:sp>
        <p:nvSpPr>
          <p:cNvPr id="1048647" name="TextBox 1048646"/>
          <p:cNvSpPr txBox="1"/>
          <p:nvPr/>
        </p:nvSpPr>
        <p:spPr>
          <a:xfrm>
            <a:off x="384048" y="4279392"/>
            <a:ext cx="4005072" cy="292608"/>
          </a:xfrm>
          <a:prstGeom prst="rect">
            <a:avLst/>
          </a:prstGeom>
          <a:noFill/>
        </p:spPr>
        <p:txBody>
          <a:bodyPr wrap="square" anchor="t" lIns="54864" tIns="36576" rIns="54864" bIns="36576">
            <a:noAutofit/>
          </a:bodyPr>
          <a:lstStyle/>
          <a:p>
            <a:pPr marL="0" indent="0" algn="ctr" rtl="0">
              <a:lnSpc>
                <a:spcPct val="100000"/>
              </a:lnSpc>
              <a:spcBef>
                <a:spcPts val="0"/>
              </a:spcBef>
              <a:spcAft>
                <a:spcPts val="0"/>
              </a:spcAft>
              <a:buNone/>
            </a:pPr>
            <a:r>
              <a:rPr lang="en-US" sz="950" b="0" i="1" dirty="0">
                <a:solidFill>
                  <a:srgbClr val="5A6880"/>
                </a:solidFill>
                <a:latin typeface="Verdana" pitchFamily="34" charset="0"/>
                <a:ea typeface="Verdana" pitchFamily="34" charset="0"/>
                <a:cs typeface="Verdana" pitchFamily="34" charset="0"/>
              </a:rPr>
              <a:t xml:space="preserve">Fig. 3  Flood detected — P(flood) = 99.97 %</a:t>
            </a:r>
          </a:p>
        </p:txBody>
      </p:sp>
      <p:sp>
        <p:nvSpPr>
          <p:cNvPr id="1048648" name="TextBox 1048647"/>
          <p:cNvSpPr txBox="1"/>
          <p:nvPr/>
        </p:nvSpPr>
        <p:spPr>
          <a:xfrm>
            <a:off x="4754880" y="4279392"/>
            <a:ext cx="4005072" cy="292608"/>
          </a:xfrm>
          <a:prstGeom prst="rect">
            <a:avLst/>
          </a:prstGeom>
          <a:noFill/>
        </p:spPr>
        <p:txBody>
          <a:bodyPr wrap="square" anchor="t" lIns="54864" tIns="36576" rIns="54864" bIns="36576">
            <a:noAutofit/>
          </a:bodyPr>
          <a:lstStyle/>
          <a:p>
            <a:pPr marL="0" indent="0" algn="ctr" rtl="0">
              <a:lnSpc>
                <a:spcPct val="100000"/>
              </a:lnSpc>
              <a:spcBef>
                <a:spcPts val="0"/>
              </a:spcBef>
              <a:spcAft>
                <a:spcPts val="0"/>
              </a:spcAft>
              <a:buNone/>
            </a:pPr>
            <a:r>
              <a:rPr lang="en-US" sz="950" b="0" i="1" dirty="0">
                <a:solidFill>
                  <a:srgbClr val="5A6880"/>
                </a:solidFill>
                <a:latin typeface="Verdana" pitchFamily="34" charset="0"/>
                <a:ea typeface="Verdana" pitchFamily="34" charset="0"/>
                <a:cs typeface="Verdana" pitchFamily="34" charset="0"/>
              </a:rPr>
              <a:t xml:space="preserve">Fig. 4  No flood — P(flood) = 4.71 %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42"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Results — Evidence and Deployment</a:t>
            </a:r>
          </a:p>
        </p:txBody>
      </p:sp>
      <p:sp>
        <p:nvSpPr>
          <p:cNvPr id="1048643"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lang="en"/>
          </a:p>
        </p:txBody>
      </p:sp>
      <p:sp>
        <p:nvSpPr>
          <p:cNvPr id="1048644" name="TextBox 1048643"/>
          <p:cNvSpPr txBox="1"/>
          <p:nvPr/>
        </p:nvSpPr>
        <p:spPr>
          <a:xfrm>
            <a:off x="365760" y="1261872"/>
            <a:ext cx="4023360" cy="310896"/>
          </a:xfrm>
          <a:prstGeom prst="rect">
            <a:avLst/>
          </a:prstGeom>
          <a:noFill/>
        </p:spPr>
        <p:txBody>
          <a:bodyPr wrap="square" anchor="t" lIns="54864" tIns="36576" rIns="54864" bIns="36576">
            <a:noAutofit/>
          </a:bodyPr>
          <a:lstStyle/>
          <a:p>
            <a:pPr marL="0" indent="0" algn="l" rtl="0">
              <a:lnSpc>
                <a:spcPct val="100000"/>
              </a:lnSpc>
              <a:spcBef>
                <a:spcPts val="0"/>
              </a:spcBef>
              <a:spcAft>
                <a:spcPts val="0"/>
              </a:spcAft>
              <a:buNone/>
            </a:pPr>
            <a:r>
              <a:rPr lang="en-US" sz="950" b="1" i="0" dirty="0">
                <a:solidFill>
                  <a:srgbClr val="3F5378"/>
                </a:solidFill>
                <a:latin typeface="Verdana" pitchFamily="34" charset="0"/>
                <a:ea typeface="Verdana" pitchFamily="34" charset="0"/>
                <a:cs typeface="Verdana" pitchFamily="34" charset="0"/>
              </a:rPr>
              <a:t xml:space="preserve">GRAD-CAM DELETION TEST</a:t>
            </a:r>
          </a:p>
        </p:txBody>
      </p:sp>
      <p:sp>
        <p:nvSpPr>
          <p:cNvPr id="1048645" name="Rounded Rectangle 1048644"/>
          <p:cNvSpPr/>
          <p:nvPr/>
        </p:nvSpPr>
        <p:spPr>
          <a:xfrm>
            <a:off x="365760" y="1591056"/>
            <a:ext cx="192024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Detected floods (77)</a:t>
            </a:r>
          </a:p>
        </p:txBody>
      </p:sp>
      <p:sp>
        <p:nvSpPr>
          <p:cNvPr id="1048646" name="Rounded Rectangle 1048645"/>
          <p:cNvSpPr/>
          <p:nvPr/>
        </p:nvSpPr>
        <p:spPr>
          <a:xfrm>
            <a:off x="2286000" y="1591056"/>
            <a:ext cx="100584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Mean P</a:t>
            </a:r>
          </a:p>
        </p:txBody>
      </p:sp>
      <p:sp>
        <p:nvSpPr>
          <p:cNvPr id="1048647" name="Rounded Rectangle 1048646"/>
          <p:cNvSpPr/>
          <p:nvPr/>
        </p:nvSpPr>
        <p:spPr>
          <a:xfrm>
            <a:off x="3291840" y="1591056"/>
            <a:ext cx="10972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Still flood</a:t>
            </a:r>
          </a:p>
        </p:txBody>
      </p:sp>
      <p:sp>
        <p:nvSpPr>
          <p:cNvPr id="1048648" name="Rounded Rectangle 1048647"/>
          <p:cNvSpPr/>
          <p:nvPr/>
        </p:nvSpPr>
        <p:spPr>
          <a:xfrm>
            <a:off x="365760" y="1865376"/>
            <a:ext cx="192024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Original image</a:t>
            </a:r>
          </a:p>
        </p:txBody>
      </p:sp>
      <p:sp>
        <p:nvSpPr>
          <p:cNvPr id="1048649" name="Rounded Rectangle 1048648"/>
          <p:cNvSpPr/>
          <p:nvPr/>
        </p:nvSpPr>
        <p:spPr>
          <a:xfrm>
            <a:off x="2286000" y="1865376"/>
            <a:ext cx="100584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0.992</a:t>
            </a:r>
          </a:p>
        </p:txBody>
      </p:sp>
      <p:sp>
        <p:nvSpPr>
          <p:cNvPr id="1048650" name="Rounded Rectangle 1048649"/>
          <p:cNvSpPr/>
          <p:nvPr/>
        </p:nvSpPr>
        <p:spPr>
          <a:xfrm>
            <a:off x="3291840" y="1865376"/>
            <a:ext cx="10972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100 %</a:t>
            </a:r>
          </a:p>
        </p:txBody>
      </p:sp>
      <p:sp>
        <p:nvSpPr>
          <p:cNvPr id="1048651" name="Rounded Rectangle 1048650"/>
          <p:cNvSpPr/>
          <p:nvPr/>
        </p:nvSpPr>
        <p:spPr>
          <a:xfrm>
            <a:off x="365760" y="2139696"/>
            <a:ext cx="192024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Top 25 % removed</a:t>
            </a:r>
          </a:p>
        </p:txBody>
      </p:sp>
      <p:sp>
        <p:nvSpPr>
          <p:cNvPr id="1048652" name="Rounded Rectangle 1048651"/>
          <p:cNvSpPr/>
          <p:nvPr/>
        </p:nvSpPr>
        <p:spPr>
          <a:xfrm>
            <a:off x="2286000" y="2139696"/>
            <a:ext cx="100584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0.848</a:t>
            </a:r>
          </a:p>
        </p:txBody>
      </p:sp>
      <p:sp>
        <p:nvSpPr>
          <p:cNvPr id="1048653" name="Rounded Rectangle 1048652"/>
          <p:cNvSpPr/>
          <p:nvPr/>
        </p:nvSpPr>
        <p:spPr>
          <a:xfrm>
            <a:off x="3291840" y="2139696"/>
            <a:ext cx="109728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88.3 %</a:t>
            </a:r>
          </a:p>
        </p:txBody>
      </p:sp>
      <p:sp>
        <p:nvSpPr>
          <p:cNvPr id="1048654" name="Rounded Rectangle 1048653"/>
          <p:cNvSpPr/>
          <p:nvPr/>
        </p:nvSpPr>
        <p:spPr>
          <a:xfrm>
            <a:off x="365760" y="2414015"/>
            <a:ext cx="192024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Bottom 25 % removed</a:t>
            </a:r>
          </a:p>
        </p:txBody>
      </p:sp>
      <p:sp>
        <p:nvSpPr>
          <p:cNvPr id="1048655" name="Rounded Rectangle 1048654"/>
          <p:cNvSpPr/>
          <p:nvPr/>
        </p:nvSpPr>
        <p:spPr>
          <a:xfrm>
            <a:off x="2286000" y="2414015"/>
            <a:ext cx="100584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0.987</a:t>
            </a:r>
          </a:p>
        </p:txBody>
      </p:sp>
      <p:sp>
        <p:nvSpPr>
          <p:cNvPr id="1048656" name="Rounded Rectangle 1048655"/>
          <p:cNvSpPr/>
          <p:nvPr/>
        </p:nvSpPr>
        <p:spPr>
          <a:xfrm>
            <a:off x="3291840" y="2414015"/>
            <a:ext cx="10972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100 %</a:t>
            </a:r>
          </a:p>
        </p:txBody>
      </p:sp>
      <p:sp>
        <p:nvSpPr>
          <p:cNvPr id="1048657" name="TextBox 1048656"/>
          <p:cNvSpPr txBox="1"/>
          <p:nvPr/>
        </p:nvSpPr>
        <p:spPr>
          <a:xfrm>
            <a:off x="365760" y="2761488"/>
            <a:ext cx="4023360" cy="841248"/>
          </a:xfrm>
          <a:prstGeom prst="rect">
            <a:avLst/>
          </a:prstGeom>
          <a:noFill/>
        </p:spPr>
        <p:txBody>
          <a:bodyPr wrap="square" anchor="t" lIns="54864" tIns="36576" rIns="54864" bIns="36576">
            <a:noAutofit/>
          </a:bodyPr>
          <a:lstStyle/>
          <a:p>
            <a:pPr marL="0" indent="0" algn="l" rtl="0">
              <a:lnSpc>
                <a:spcPct val="118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Greying out the quarter of pixels Grad-CAM ranks highest drops the flood probability far more than removing the quarter it ignores, so the evidence really is where the heatmap points.</a:t>
            </a:r>
          </a:p>
        </p:txBody>
      </p:sp>
      <p:sp>
        <p:nvSpPr>
          <p:cNvPr id="1048658" name="TextBox 1048657"/>
          <p:cNvSpPr txBox="1"/>
          <p:nvPr/>
        </p:nvSpPr>
        <p:spPr>
          <a:xfrm>
            <a:off x="4645152" y="1261872"/>
            <a:ext cx="4114800" cy="310896"/>
          </a:xfrm>
          <a:prstGeom prst="rect">
            <a:avLst/>
          </a:prstGeom>
          <a:noFill/>
        </p:spPr>
        <p:txBody>
          <a:bodyPr wrap="square" anchor="t" lIns="54864" tIns="36576" rIns="54864" bIns="36576">
            <a:noAutofit/>
          </a:bodyPr>
          <a:lstStyle/>
          <a:p>
            <a:pPr marL="0" indent="0" algn="l" rtl="0">
              <a:lnSpc>
                <a:spcPct val="100000"/>
              </a:lnSpc>
              <a:spcBef>
                <a:spcPts val="0"/>
              </a:spcBef>
              <a:spcAft>
                <a:spcPts val="0"/>
              </a:spcAft>
              <a:buNone/>
            </a:pPr>
            <a:r>
              <a:rPr lang="en-US" sz="950" b="1" i="0" dirty="0">
                <a:solidFill>
                  <a:srgbClr val="3F5378"/>
                </a:solidFill>
                <a:latin typeface="Verdana" pitchFamily="34" charset="0"/>
                <a:ea typeface="Verdana" pitchFamily="34" charset="0"/>
                <a:cs typeface="Verdana" pitchFamily="34" charset="0"/>
              </a:rPr>
              <a:t xml:space="preserve">DEPLOYMENT EXPORTS</a:t>
            </a:r>
          </a:p>
        </p:txBody>
      </p:sp>
      <p:sp>
        <p:nvSpPr>
          <p:cNvPr id="1048659" name="Rounded Rectangle 1048658"/>
          <p:cNvSpPr/>
          <p:nvPr/>
        </p:nvSpPr>
        <p:spPr>
          <a:xfrm>
            <a:off x="4645152" y="1591056"/>
            <a:ext cx="150876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Export</a:t>
            </a:r>
          </a:p>
        </p:txBody>
      </p:sp>
      <p:sp>
        <p:nvSpPr>
          <p:cNvPr id="1048660" name="Rounded Rectangle 1048659"/>
          <p:cNvSpPr/>
          <p:nvPr/>
        </p:nvSpPr>
        <p:spPr>
          <a:xfrm>
            <a:off x="6153912" y="1591056"/>
            <a:ext cx="8686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Size</a:t>
            </a:r>
          </a:p>
        </p:txBody>
      </p:sp>
      <p:sp>
        <p:nvSpPr>
          <p:cNvPr id="1048661" name="Rounded Rectangle 1048660"/>
          <p:cNvSpPr/>
          <p:nvPr/>
        </p:nvSpPr>
        <p:spPr>
          <a:xfrm>
            <a:off x="7022592" y="1591056"/>
            <a:ext cx="8686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Latency</a:t>
            </a:r>
          </a:p>
        </p:txBody>
      </p:sp>
      <p:sp>
        <p:nvSpPr>
          <p:cNvPr id="1048662" name="Rounded Rectangle 1048661"/>
          <p:cNvSpPr/>
          <p:nvPr/>
        </p:nvSpPr>
        <p:spPr>
          <a:xfrm>
            <a:off x="7891271" y="1591056"/>
            <a:ext cx="868680" cy="274320"/>
          </a:xfrm>
          <a:prstGeom prst="roundRect">
            <a:avLst>
              <a:gd name="adj" fmla="val 0"/>
            </a:avLst>
          </a:prstGeom>
          <a:solidFill>
            <a:srgbClr val="3F5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noAutofit/>
          </a:bodyPr>
          <a:lstStyle/>
          <a:p>
            <a:pPr marL="0" indent="0" algn="ctr" rtl="0">
              <a:lnSpc>
                <a:spcPct val="100000"/>
              </a:lnSpc>
              <a:spcBef>
                <a:spcPts val="0"/>
              </a:spcBef>
              <a:spcAft>
                <a:spcPts val="0"/>
              </a:spcAft>
              <a:buNone/>
            </a:pPr>
            <a:r>
              <a:rPr lang="en-US" sz="800" b="1" i="0" dirty="0">
                <a:solidFill>
                  <a:srgbClr val="FFFFFF"/>
                </a:solidFill>
                <a:latin typeface="Verdana" pitchFamily="34" charset="0"/>
                <a:ea typeface="Verdana" pitchFamily="34" charset="0"/>
                <a:cs typeface="Verdana" pitchFamily="34" charset="0"/>
              </a:rPr>
              <a:t xml:space="preserve">Δ decisions</a:t>
            </a:r>
          </a:p>
        </p:txBody>
      </p:sp>
      <p:sp>
        <p:nvSpPr>
          <p:cNvPr id="1048663" name="Rounded Rectangle 1048662"/>
          <p:cNvSpPr/>
          <p:nvPr/>
        </p:nvSpPr>
        <p:spPr>
          <a:xfrm>
            <a:off x="4645152" y="1865376"/>
            <a:ext cx="150876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Keras (.keras)</a:t>
            </a:r>
          </a:p>
        </p:txBody>
      </p:sp>
      <p:sp>
        <p:nvSpPr>
          <p:cNvPr id="1048664" name="Rounded Rectangle 1048663"/>
          <p:cNvSpPr/>
          <p:nvPr/>
        </p:nvSpPr>
        <p:spPr>
          <a:xfrm>
            <a:off x="6153912" y="1865376"/>
            <a:ext cx="8686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9.81 MB</a:t>
            </a:r>
          </a:p>
        </p:txBody>
      </p:sp>
      <p:sp>
        <p:nvSpPr>
          <p:cNvPr id="1048665" name="Rounded Rectangle 1048664"/>
          <p:cNvSpPr/>
          <p:nvPr/>
        </p:nvSpPr>
        <p:spPr>
          <a:xfrm>
            <a:off x="7022592" y="1865376"/>
            <a:ext cx="8686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14.1 ms</a:t>
            </a:r>
          </a:p>
        </p:txBody>
      </p:sp>
      <p:sp>
        <p:nvSpPr>
          <p:cNvPr id="1048666" name="Rounded Rectangle 1048665"/>
          <p:cNvSpPr/>
          <p:nvPr/>
        </p:nvSpPr>
        <p:spPr>
          <a:xfrm>
            <a:off x="7891271" y="1865376"/>
            <a:ext cx="8686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a:t>
            </a:r>
          </a:p>
        </p:txBody>
      </p:sp>
      <p:sp>
        <p:nvSpPr>
          <p:cNvPr id="1048667" name="Rounded Rectangle 1048666"/>
          <p:cNvSpPr/>
          <p:nvPr/>
        </p:nvSpPr>
        <p:spPr>
          <a:xfrm>
            <a:off x="4645152" y="2139696"/>
            <a:ext cx="150876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TFLite int8</a:t>
            </a:r>
          </a:p>
        </p:txBody>
      </p:sp>
      <p:sp>
        <p:nvSpPr>
          <p:cNvPr id="1048668" name="Rounded Rectangle 1048667"/>
          <p:cNvSpPr/>
          <p:nvPr/>
        </p:nvSpPr>
        <p:spPr>
          <a:xfrm>
            <a:off x="6153912" y="2139696"/>
            <a:ext cx="86868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2.54 MB</a:t>
            </a:r>
          </a:p>
        </p:txBody>
      </p:sp>
      <p:sp>
        <p:nvSpPr>
          <p:cNvPr id="1048669" name="Rounded Rectangle 1048668"/>
          <p:cNvSpPr/>
          <p:nvPr/>
        </p:nvSpPr>
        <p:spPr>
          <a:xfrm>
            <a:off x="7022592" y="2139696"/>
            <a:ext cx="86868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4.4 ms</a:t>
            </a:r>
          </a:p>
        </p:txBody>
      </p:sp>
      <p:sp>
        <p:nvSpPr>
          <p:cNvPr id="1048670" name="Rounded Rectangle 1048669"/>
          <p:cNvSpPr/>
          <p:nvPr/>
        </p:nvSpPr>
        <p:spPr>
          <a:xfrm>
            <a:off x="7891271" y="2139696"/>
            <a:ext cx="868680" cy="274320"/>
          </a:xfrm>
          <a:prstGeom prst="roundRect">
            <a:avLst>
              <a:gd name="adj" fmla="val 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2 of 228</a:t>
            </a:r>
          </a:p>
        </p:txBody>
      </p:sp>
      <p:sp>
        <p:nvSpPr>
          <p:cNvPr id="1048671" name="Rounded Rectangle 1048670"/>
          <p:cNvSpPr/>
          <p:nvPr/>
        </p:nvSpPr>
        <p:spPr>
          <a:xfrm>
            <a:off x="4645152" y="2414015"/>
            <a:ext cx="150876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l" rtl="0">
              <a:lnSpc>
                <a:spcPct val="100000"/>
              </a:lnSpc>
              <a:spcBef>
                <a:spcPts val="0"/>
              </a:spcBef>
              <a:spcAft>
                <a:spcPts val="0"/>
              </a:spcAft>
              <a:buNone/>
            </a:pPr>
            <a:r>
              <a:rPr lang="en-US" sz="800" b="1" i="0" dirty="0">
                <a:solidFill>
                  <a:srgbClr val="263248"/>
                </a:solidFill>
                <a:latin typeface="Verdana" pitchFamily="34" charset="0"/>
                <a:ea typeface="Verdana" pitchFamily="34" charset="0"/>
                <a:cs typeface="Verdana" pitchFamily="34" charset="0"/>
              </a:rPr>
              <a:t xml:space="preserve">TFLite float16</a:t>
            </a:r>
          </a:p>
        </p:txBody>
      </p:sp>
      <p:sp>
        <p:nvSpPr>
          <p:cNvPr id="1048672" name="Rounded Rectangle 1048671"/>
          <p:cNvSpPr/>
          <p:nvPr/>
        </p:nvSpPr>
        <p:spPr>
          <a:xfrm>
            <a:off x="6153912" y="2414015"/>
            <a:ext cx="8686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4.57 MB</a:t>
            </a:r>
          </a:p>
        </p:txBody>
      </p:sp>
      <p:sp>
        <p:nvSpPr>
          <p:cNvPr id="1048673" name="Rounded Rectangle 1048672"/>
          <p:cNvSpPr/>
          <p:nvPr/>
        </p:nvSpPr>
        <p:spPr>
          <a:xfrm>
            <a:off x="7022592" y="2414015"/>
            <a:ext cx="8686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7.3 ms</a:t>
            </a:r>
          </a:p>
        </p:txBody>
      </p:sp>
      <p:sp>
        <p:nvSpPr>
          <p:cNvPr id="1048674" name="Rounded Rectangle 1048673"/>
          <p:cNvSpPr/>
          <p:nvPr/>
        </p:nvSpPr>
        <p:spPr>
          <a:xfrm>
            <a:off x="7891271" y="2414015"/>
            <a:ext cx="868680" cy="274320"/>
          </a:xfrm>
          <a:prstGeom prst="roundRect">
            <a:avLst>
              <a:gd name="adj" fmla="val 0"/>
            </a:avLst>
          </a:prstGeom>
          <a:solidFill>
            <a:srgbClr val="FFFFFF"/>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9144" rIns="27432" bIns="9144">
            <a:noAutofit/>
          </a:bodyPr>
          <a:lstStyle/>
          <a:p>
            <a:pPr marL="0" indent="0" algn="ctr" rtl="0">
              <a:lnSpc>
                <a:spcPct val="100000"/>
              </a:lnSpc>
              <a:spcBef>
                <a:spcPts val="0"/>
              </a:spcBef>
              <a:spcAft>
                <a:spcPts val="0"/>
              </a:spcAft>
              <a:buNone/>
            </a:pPr>
            <a:r>
              <a:rPr lang="en-US" sz="800" b="0" i="0" dirty="0">
                <a:solidFill>
                  <a:srgbClr val="263248"/>
                </a:solidFill>
                <a:latin typeface="Verdana" pitchFamily="34" charset="0"/>
                <a:ea typeface="Verdana" pitchFamily="34" charset="0"/>
                <a:cs typeface="Verdana" pitchFamily="34" charset="0"/>
              </a:rPr>
              <a:t xml:space="preserve">0 of 228</a:t>
            </a:r>
          </a:p>
        </p:txBody>
      </p:sp>
      <p:sp>
        <p:nvSpPr>
          <p:cNvPr id="1048675" name="TextBox 1048674"/>
          <p:cNvSpPr txBox="1"/>
          <p:nvPr/>
        </p:nvSpPr>
        <p:spPr>
          <a:xfrm>
            <a:off x="4645152" y="2761488"/>
            <a:ext cx="4114800" cy="841248"/>
          </a:xfrm>
          <a:prstGeom prst="rect">
            <a:avLst/>
          </a:prstGeom>
          <a:noFill/>
        </p:spPr>
        <p:txBody>
          <a:bodyPr wrap="square" anchor="t" lIns="54864" tIns="36576" rIns="54864" bIns="36576">
            <a:noAutofit/>
          </a:bodyPr>
          <a:lstStyle/>
          <a:p>
            <a:pPr marL="0" indent="0" algn="l" rtl="0">
              <a:lnSpc>
                <a:spcPct val="118000"/>
              </a:lnSpc>
              <a:spcBef>
                <a:spcPts val="0"/>
              </a:spcBef>
              <a:spcAft>
                <a:spcPts val="0"/>
              </a:spcAft>
              <a:buNone/>
            </a:pPr>
            <a:r>
              <a:rPr lang="en-US" sz="850" b="0" i="0" dirty="0">
                <a:solidFill>
                  <a:srgbClr val="263248"/>
                </a:solidFill>
                <a:latin typeface="Verdana" pitchFamily="34" charset="0"/>
                <a:ea typeface="Verdana" pitchFamily="34" charset="0"/>
                <a:cs typeface="Verdana" pitchFamily="34" charset="0"/>
              </a:rPr>
              <a:t xml:space="preserve">The float16 build is under half the size of the Keras file, runs in 7.3 ms on a CPU and reproduces every Keras decision — the safe choice for a drone or a phone.</a:t>
            </a:r>
          </a:p>
        </p:txBody>
      </p:sp>
      <p:sp>
        <p:nvSpPr>
          <p:cNvPr id="1048676" name="Rounded Rectangle 1048675"/>
          <p:cNvSpPr/>
          <p:nvPr/>
        </p:nvSpPr>
        <p:spPr>
          <a:xfrm>
            <a:off x="365760" y="3712463"/>
            <a:ext cx="8394192" cy="749808"/>
          </a:xfrm>
          <a:prstGeom prst="roundRect">
            <a:avLst>
              <a:gd name="adj" fmla="val 8000"/>
            </a:avLst>
          </a:prstGeom>
          <a:solidFill>
            <a:srgbClr val="EDF1F6"/>
          </a:solidFill>
          <a:ln w="12700">
            <a:solidFill>
              <a:srgbClr val="C7D3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8677" name="TextBox 1048676"/>
          <p:cNvSpPr txBox="1"/>
          <p:nvPr/>
        </p:nvSpPr>
        <p:spPr>
          <a:xfrm>
            <a:off x="530352" y="3785615"/>
            <a:ext cx="8065008" cy="603504"/>
          </a:xfrm>
          <a:prstGeom prst="rect">
            <a:avLst/>
          </a:prstGeom>
          <a:noFill/>
        </p:spPr>
        <p:txBody>
          <a:bodyPr wrap="square" anchor="ctr" lIns="54864" tIns="36576" rIns="54864" bIns="36576">
            <a:noAutofit/>
          </a:bodyPr>
          <a:lstStyle/>
          <a:p>
            <a:pPr marL="0" indent="0" algn="l" rtl="0">
              <a:lnSpc>
                <a:spcPct val="118000"/>
              </a:lnSpc>
              <a:spcBef>
                <a:spcPts val="0"/>
              </a:spcBef>
              <a:spcAft>
                <a:spcPts val="0"/>
              </a:spcAft>
              <a:buNone/>
            </a:pPr>
            <a:r>
              <a:rPr lang="en-US" sz="850" b="1" i="0" dirty="0">
                <a:solidFill>
                  <a:srgbClr val="3F5378"/>
                </a:solidFill>
                <a:latin typeface="Verdana" pitchFamily="34" charset="0"/>
                <a:ea typeface="Verdana" pitchFamily="34" charset="0"/>
                <a:cs typeface="Verdana" pitchFamily="34" charset="0"/>
              </a:rPr>
              <a:t xml:space="preserve">Attention area  </a:t>
            </a:r>
            <a:r>
              <a:rPr lang="en-US" sz="850" b="0" i="0" dirty="0">
                <a:solidFill>
                  <a:srgbClr val="263248"/>
                </a:solidFill>
                <a:latin typeface="Verdana" pitchFamily="34" charset="0"/>
                <a:ea typeface="Verdana" pitchFamily="34" charset="0"/>
                <a:cs typeface="Verdana" pitchFamily="34" charset="0"/>
              </a:rPr>
              <a:t xml:space="preserve">62.0 % of the frame on true floods against 7.5 % on true non-floods; 77 % of real floods exceed the 50 % warning line, so the app flags whole-scene reactions for the operator.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52" name="Google Shape;189;p12"/>
          <p:cNvSpPr txBox="1">
            <a:spLocks noGrp="1"/>
          </p:cNvSpPr>
          <p:nvPr>
            <p:ph type="title"/>
          </p:nvPr>
        </p:nvSpPr>
        <p:spPr>
          <a:xfrm>
            <a:off x="502920" y="384048"/>
            <a:ext cx="8138160" cy="768096"/>
          </a:xfrm>
          <a:prstGeom prst="rect">
            <a:avLst/>
          </a:prstGeom>
        </p:spPr>
        <p:txBody>
          <a:bodyPr spcFirstLastPara="1" wrap="square" lIns="91425" tIns="91425" rIns="91425" bIns="91425" anchor="ctr" anchorCtr="0">
            <a:noAutofit/>
          </a:bodyPr>
          <a:lstStyle/>
          <a:p>
            <a:pPr marL="0" indent="0" algn="l" rtl="0">
              <a:lnSpc>
                <a:spcPct val="100000"/>
              </a:lnSpc>
              <a:spcBef>
                <a:spcPts val="0"/>
              </a:spcBef>
              <a:spcAft>
                <a:spcPts val="0"/>
              </a:spcAft>
              <a:buNone/>
            </a:pPr>
            <a:r>
              <a:rPr lang="en-US" sz="2800" b="1" i="0" dirty="0">
                <a:solidFill>
                  <a:srgbClr val="263248"/>
                </a:solidFill>
                <a:latin typeface="Verdana" pitchFamily="34" charset="0"/>
                <a:ea typeface="Verdana" pitchFamily="34" charset="0"/>
                <a:cs typeface="Verdana" pitchFamily="34" charset="0"/>
              </a:rPr>
              <a:t xml:space="preserve">Conclusion</a:t>
            </a:r>
          </a:p>
        </p:txBody>
      </p:sp>
      <p:sp>
        <p:nvSpPr>
          <p:cNvPr id="1048653"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lang="en"/>
          </a:p>
        </p:txBody>
      </p:sp>
      <p:sp>
        <p:nvSpPr>
          <p:cNvPr id="1048654" name="Content Placeholder 2"/>
          <p:cNvSpPr txBox="1"/>
          <p:nvPr/>
        </p:nvSpPr>
        <p:spPr>
          <a:xfrm>
            <a:off x="502920" y="1316736"/>
            <a:ext cx="8138160" cy="321868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411480" indent="-411480" algn="l" rtl="0">
              <a:lnSpc>
                <a:spcPct val="112000"/>
              </a:lnSpc>
              <a:spcBef>
                <a:spcPts val="0"/>
              </a:spcBef>
              <a:spcAft>
                <a:spcPts val="380"/>
              </a:spcAft>
              <a:buClr>
                <a:srgbClr val="92A8C8"/>
              </a:buClr>
              <a:buSzPts val="1200"/>
              <a:buFont typeface="Arial"/>
              <a:buChar char="▰"/>
            </a:pPr>
            <a:r>
              <a:rPr lang="en-US" sz="1300" b="0" i="0" dirty="0">
                <a:solidFill>
                  <a:srgbClr val="263248"/>
                </a:solidFill>
                <a:latin typeface="Verdana" pitchFamily="34" charset="0"/>
                <a:ea typeface="Verdana" pitchFamily="34" charset="0"/>
                <a:cs typeface="Verdana" pitchFamily="34" charset="0"/>
              </a:rPr>
              <a:t xml:space="preserve">Delivered a flood classifier that finds 77 of the 78 test floods (recall 0.987) at precision 0.865, ROC AUC 0.9955.</a:t>
            </a:r>
          </a:p>
          <a:p>
            <a:pPr marL="411480" indent="-411480" algn="l" rtl="0">
              <a:lnSpc>
                <a:spcPct val="112000"/>
              </a:lnSpc>
              <a:spcBef>
                <a:spcPts val="0"/>
              </a:spcBef>
              <a:spcAft>
                <a:spcPts val="380"/>
              </a:spcAft>
              <a:buClr>
                <a:srgbClr val="92A8C8"/>
              </a:buClr>
              <a:buSzPts val="1200"/>
              <a:buFont typeface="Arial"/>
              <a:buChar char="▰"/>
            </a:pPr>
            <a:r>
              <a:rPr lang="en-US" sz="1300" b="0" i="0" dirty="0">
                <a:solidFill>
                  <a:srgbClr val="263248"/>
                </a:solidFill>
                <a:latin typeface="Verdana" pitchFamily="34" charset="0"/>
                <a:ea typeface="Verdana" pitchFamily="34" charset="0"/>
                <a:cs typeface="Verdana" pitchFamily="34" charset="0"/>
              </a:rPr>
              <a:t xml:space="preserve">Showed that fine-tuning beats a frozen backbone across three seeds, and chose both the variant and the 0.30 threshold on validation data only.</a:t>
            </a:r>
          </a:p>
          <a:p>
            <a:pPr marL="411480" indent="-411480" algn="l" rtl="0">
              <a:lnSpc>
                <a:spcPct val="112000"/>
              </a:lnSpc>
              <a:spcBef>
                <a:spcPts val="0"/>
              </a:spcBef>
              <a:spcAft>
                <a:spcPts val="380"/>
              </a:spcAft>
              <a:buClr>
                <a:srgbClr val="92A8C8"/>
              </a:buClr>
              <a:buSzPts val="1200"/>
              <a:buFont typeface="Arial"/>
              <a:buChar char="▰"/>
            </a:pPr>
            <a:r>
              <a:rPr lang="en-US" sz="1300" b="0" i="0" dirty="0">
                <a:solidFill>
                  <a:srgbClr val="263248"/>
                </a:solidFill>
                <a:latin typeface="Verdana" pitchFamily="34" charset="0"/>
                <a:ea typeface="Verdana" pitchFamily="34" charset="0"/>
                <a:cs typeface="Verdana" pitchFamily="34" charset="0"/>
              </a:rPr>
              <a:t xml:space="preserve">Confirmed with a deletion test that the model's evidence is concentrated where Grad-CAM points, not spread over the whole scene.</a:t>
            </a:r>
          </a:p>
          <a:p>
            <a:pPr marL="411480" indent="-411480" algn="l" rtl="0">
              <a:lnSpc>
                <a:spcPct val="112000"/>
              </a:lnSpc>
              <a:spcBef>
                <a:spcPts val="0"/>
              </a:spcBef>
              <a:spcAft>
                <a:spcPts val="380"/>
              </a:spcAft>
              <a:buClr>
                <a:srgbClr val="92A8C8"/>
              </a:buClr>
              <a:buSzPts val="1200"/>
              <a:buFont typeface="Arial"/>
              <a:buChar char="▰"/>
            </a:pPr>
            <a:r>
              <a:rPr lang="en-US" sz="1300" b="0" i="0" dirty="0">
                <a:solidFill>
                  <a:srgbClr val="263248"/>
                </a:solidFill>
                <a:latin typeface="Verdana" pitchFamily="34" charset="0"/>
                <a:ea typeface="Verdana" pitchFamily="34" charset="0"/>
                <a:cs typeface="Verdana" pitchFamily="34" charset="0"/>
              </a:rPr>
              <a:t xml:space="preserve">Exported a 4.57 MB float16 TFLite model that runs in 7.3 ms on a CPU and reproduces every Keras decision.</a:t>
            </a:r>
          </a:p>
          <a:p>
            <a:pPr marL="411480" indent="-411480" algn="l" rtl="0">
              <a:lnSpc>
                <a:spcPct val="112000"/>
              </a:lnSpc>
              <a:spcBef>
                <a:spcPts val="0"/>
              </a:spcBef>
              <a:spcAft>
                <a:spcPts val="380"/>
              </a:spcAft>
              <a:buClr>
                <a:srgbClr val="92A8C8"/>
              </a:buClr>
              <a:buSzPts val="1200"/>
              <a:buFont typeface="Arial"/>
              <a:buChar char="▰"/>
            </a:pPr>
            <a:r>
              <a:rPr lang="en-US" sz="1300" b="0" i="0" dirty="0">
                <a:solidFill>
                  <a:srgbClr val="263248"/>
                </a:solidFill>
                <a:latin typeface="Verdana" pitchFamily="34" charset="0"/>
                <a:ea typeface="Verdana" pitchFamily="34" charset="0"/>
                <a:cs typeface="Verdana" pitchFamily="34" charset="0"/>
              </a:rPr>
              <a:t xml:space="preserve">Reported the limits honestly: aerial views only, a subsampled no-flood class, and residual source differences the crop cannot remove.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gradFill>
        <a:effectLst/>
      </p:bgPr>
    </p:bg>
    <p:spTree>
      <p:nvGrpSpPr>
        <p:cNvPr id="1" name="Shape 1446"/>
        <p:cNvGrpSpPr/>
        <p:nvPr/>
      </p:nvGrpSpPr>
      <p:grpSpPr>
        <a:xfrm>
          <a:off x="0" y="0"/>
          <a:ext cx="0" cy="0"/>
          <a:chOff x="0" y="0"/>
          <a:chExt cx="0" cy="0"/>
        </a:xfrm>
      </p:grpSpPr>
      <p:sp>
        <p:nvSpPr>
          <p:cNvPr id="1048671" name="Google Shape;1448;p40"/>
          <p:cNvSpPr txBox="1"/>
          <p:nvPr/>
        </p:nvSpPr>
        <p:spPr>
          <a:xfrm>
            <a:off x="1097280" y="2057400"/>
            <a:ext cx="6949440" cy="777240"/>
          </a:xfrm>
          <a:prstGeom prst="rect">
            <a:avLst/>
          </a:prstGeom>
          <a:noFill/>
          <a:ln>
            <a:noFill/>
          </a:ln>
        </p:spPr>
        <p:txBody>
          <a:bodyPr spcFirstLastPara="1" wrap="square" lIns="0" tIns="0" rIns="0" bIns="0" anchor="ctr" anchorCtr="0">
            <a:noAutofit/>
          </a:bodyPr>
          <a:lstStyle/>
          <a:p>
            <a:pPr marL="0" indent="0" algn="ctr" rtl="0">
              <a:lnSpc>
                <a:spcPct val="100000"/>
              </a:lnSpc>
              <a:spcBef>
                <a:spcPts val="0"/>
              </a:spcBef>
              <a:spcAft>
                <a:spcPts val="260"/>
              </a:spcAft>
              <a:buNone/>
            </a:pPr>
            <a:r>
              <a:rPr lang="en-US" sz="3200" b="1" i="0" dirty="0">
                <a:solidFill>
                  <a:srgbClr val="263248"/>
                </a:solidFill>
                <a:latin typeface="Verdana" pitchFamily="34" charset="0"/>
                <a:ea typeface="Verdana" pitchFamily="34" charset="0"/>
                <a:cs typeface="Verdana" pitchFamily="34" charset="0"/>
              </a:rPr>
              <a:t xml:space="preserve">THANK YOU</a:t>
            </a:r>
          </a:p>
          <a:p>
            <a:pPr marL="0" indent="0" algn="ctr" rtl="0">
              <a:lnSpc>
                <a:spcPct val="100000"/>
              </a:lnSpc>
              <a:spcBef>
                <a:spcPts val="0"/>
              </a:spcBef>
              <a:spcAft>
                <a:spcPts val="0"/>
              </a:spcAft>
              <a:buNone/>
            </a:pPr>
            <a:r>
              <a:rPr lang="en-US" sz="1100" b="0" i="0" dirty="0">
                <a:solidFill>
                  <a:srgbClr val="3F5378"/>
                </a:solidFill>
                <a:latin typeface="Verdana" pitchFamily="34" charset="0"/>
                <a:ea typeface="Verdana" pitchFamily="34" charset="0"/>
                <a:cs typeface="Verdana" pitchFamily="34" charset="0"/>
              </a:rPr>
              <a:t xml:space="preserve">Team Galaxy Guardians  ·  III ADS</a:t>
            </a: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95</Words>
  <Application>Microsoft Office PowerPoint</Application>
  <PresentationFormat>On-screen Show (16:9)</PresentationFormat>
  <Paragraphs>34</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Roboto Condensed Light</vt:lpstr>
      <vt:lpstr>Montserrat</vt:lpstr>
      <vt:lpstr>Roboto Condensed</vt:lpstr>
      <vt:lpstr>Verdana</vt:lpstr>
      <vt:lpstr>Arvo</vt:lpstr>
      <vt:lpstr>Salerio template</vt:lpstr>
      <vt:lpstr>PROJECT TITLE</vt:lpstr>
      <vt:lpstr>CONTENTS – Left alignment – caps  Font type: Verdana Font Size: 28</vt:lpstr>
      <vt:lpstr>Problem Statement</vt:lpstr>
      <vt:lpstr>Objectives</vt:lpstr>
      <vt:lpstr>Requirement Specification</vt:lpstr>
      <vt:lpstr>System Design</vt:lpstr>
      <vt:lpstr>Results</vt:lpstr>
      <vt:lpstr>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janani.s</dc:creator>
  <cp:lastModifiedBy>ramya.r</cp:lastModifiedBy>
  <cp:revision>2</cp:revision>
  <dcterms:created xsi:type="dcterms:W3CDTF">2022-07-08T13:56:45Z</dcterms:created>
  <dcterms:modified xsi:type="dcterms:W3CDTF">2022-10-14T09:03:37Z</dcterms:modified>
</cp:coreProperties>
</file>